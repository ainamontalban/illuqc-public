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995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8498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639933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0689402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2705526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3823655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94913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5955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336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8849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542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473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9156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755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4896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3148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834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833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7332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885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167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3215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23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779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327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058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33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76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365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855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8225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564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879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5430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lluQC_MASTER"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202789" name="Shape 0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3970139" name="Text 1"/>
          <p:cNvSpPr/>
          <p:nvPr/>
        </p:nvSpPr>
        <p:spPr bwMode="auto">
          <a:xfrm>
            <a:off x="50292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5D6B78"/>
                </a:solidFill>
                <a:latin typeface="Aptos"/>
                <a:ea typeface="Aptos"/>
                <a:cs typeface="Aptos"/>
              </a:rPr>
              <a:t>IlluQC · BASIC WORKFLOW</a:t>
            </a:r>
            <a:endParaRPr lang="en-US" sz="800"/>
          </a:p>
        </p:txBody>
      </p:sp>
      <p:sp>
        <p:nvSpPr>
          <p:cNvPr id="29265173" name="Text 2"/>
          <p:cNvSpPr/>
          <p:nvPr/>
        </p:nvSpPr>
        <p:spPr bwMode="auto">
          <a:xfrm>
            <a:off x="662940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5D6B78"/>
                </a:solidFill>
                <a:latin typeface="Aptos"/>
                <a:ea typeface="Aptos"/>
                <a:cs typeface="Aptos"/>
              </a:rPr>
              <a:t>Research software · Validate locally before production use</a:t>
            </a:r>
            <a:endParaRPr lang="en-US" sz="800"/>
          </a:p>
        </p:txBody>
      </p:sp>
      <p:sp>
        <p:nvSpPr>
          <p:cNvPr id="4037562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66723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4324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795161" name="Shape 0"/>
          <p:cNvSpPr/>
          <p:nvPr/>
        </p:nvSpPr>
        <p:spPr bwMode="auto">
          <a:xfrm>
            <a:off x="0" y="0"/>
            <a:ext cx="164592" cy="6858000"/>
          </a:xfrm>
          <a:prstGeom prst="rect">
            <a:avLst/>
          </a:prstGeom>
          <a:solidFill>
            <a:srgbClr val="00B8B8"/>
          </a:solidFill>
          <a:ln w="12700">
            <a:solidFill>
              <a:srgbClr val="00B8B8"/>
            </a:solidFill>
            <a:prstDash val="solid"/>
          </a:ln>
        </p:spPr>
      </p:sp>
      <p:sp>
        <p:nvSpPr>
          <p:cNvPr id="2113899482" name="Text 1"/>
          <p:cNvSpPr/>
          <p:nvPr/>
        </p:nvSpPr>
        <p:spPr bwMode="auto">
          <a:xfrm>
            <a:off x="777240" y="960120"/>
            <a:ext cx="685800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</a:rPr>
              <a:t>WORKING WITH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</a:rPr>
              <a:t>IlluQC</a:t>
            </a:r>
            <a:endParaRPr lang="en-US" sz="3800"/>
          </a:p>
        </p:txBody>
      </p:sp>
      <p:sp>
        <p:nvSpPr>
          <p:cNvPr id="730713171" name="Text 2"/>
          <p:cNvSpPr/>
          <p:nvPr/>
        </p:nvSpPr>
        <p:spPr bwMode="auto">
          <a:xfrm>
            <a:off x="822960" y="2697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CFE3EC"/>
                </a:solidFill>
              </a:rPr>
              <a:t>Basic steps from raw sequencing data to an interactive QC dashboard</a:t>
            </a:r>
            <a:endParaRPr lang="en-US" sz="2000"/>
          </a:p>
        </p:txBody>
      </p:sp>
      <p:sp>
        <p:nvSpPr>
          <p:cNvPr id="213587257" name="Shape 3"/>
          <p:cNvSpPr/>
          <p:nvPr/>
        </p:nvSpPr>
        <p:spPr bwMode="auto">
          <a:xfrm>
            <a:off x="8229600" y="1051560"/>
            <a:ext cx="2834640" cy="4251960"/>
          </a:xfrm>
          <a:prstGeom prst="roundRect">
            <a:avLst>
              <a:gd name="adj" fmla="val 2581"/>
            </a:avLst>
          </a:prstGeom>
          <a:solidFill>
            <a:srgbClr val="1E435E">
              <a:alpha val="95000"/>
            </a:srgbClr>
          </a:solidFill>
          <a:ln w="12700">
            <a:solidFill>
              <a:srgbClr val="4E7892"/>
            </a:solidFill>
            <a:prstDash val="solid"/>
          </a:ln>
        </p:spPr>
      </p:sp>
      <p:sp>
        <p:nvSpPr>
          <p:cNvPr id="1373313750" name="Shape 4"/>
          <p:cNvSpPr/>
          <p:nvPr/>
        </p:nvSpPr>
        <p:spPr bwMode="auto">
          <a:xfrm>
            <a:off x="8613648" y="1399032"/>
            <a:ext cx="347472" cy="347472"/>
          </a:xfrm>
          <a:prstGeom prst="ellipse">
            <a:avLst/>
          </a:prstGeom>
          <a:solidFill>
            <a:srgbClr val="00B8B8"/>
          </a:solidFill>
          <a:ln w="12700">
            <a:solidFill>
              <a:srgbClr val="00B8B8"/>
            </a:solidFill>
            <a:prstDash val="solid"/>
          </a:ln>
        </p:spPr>
      </p:sp>
      <p:sp>
        <p:nvSpPr>
          <p:cNvPr id="1307685699" name="Text 5"/>
          <p:cNvSpPr/>
          <p:nvPr/>
        </p:nvSpPr>
        <p:spPr bwMode="auto">
          <a:xfrm>
            <a:off x="8613648" y="14721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1</a:t>
            </a:r>
            <a:endParaRPr lang="en-US" sz="850"/>
          </a:p>
        </p:txBody>
      </p:sp>
      <p:sp>
        <p:nvSpPr>
          <p:cNvPr id="209532196" name="Text 6"/>
          <p:cNvSpPr/>
          <p:nvPr/>
        </p:nvSpPr>
        <p:spPr bwMode="auto">
          <a:xfrm>
            <a:off x="9144000" y="141732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Configure</a:t>
            </a:r>
            <a:endParaRPr lang="en-US" sz="1400"/>
          </a:p>
        </p:txBody>
      </p:sp>
      <p:sp>
        <p:nvSpPr>
          <p:cNvPr id="1370002696" name="Shape 7"/>
          <p:cNvSpPr/>
          <p:nvPr/>
        </p:nvSpPr>
        <p:spPr bwMode="auto">
          <a:xfrm>
            <a:off x="8613648" y="1993392"/>
            <a:ext cx="347472" cy="347472"/>
          </a:xfrm>
          <a:prstGeom prst="ellipse">
            <a:avLst/>
          </a:prstGeom>
          <a:solidFill>
            <a:srgbClr val="00B8B8"/>
          </a:solidFill>
          <a:ln w="12700">
            <a:solidFill>
              <a:srgbClr val="00B8B8"/>
            </a:solidFill>
            <a:prstDash val="solid"/>
          </a:ln>
        </p:spPr>
      </p:sp>
      <p:sp>
        <p:nvSpPr>
          <p:cNvPr id="1141996296" name="Text 8"/>
          <p:cNvSpPr/>
          <p:nvPr/>
        </p:nvSpPr>
        <p:spPr bwMode="auto">
          <a:xfrm>
            <a:off x="8613648" y="20665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2</a:t>
            </a:r>
            <a:endParaRPr lang="en-US" sz="850"/>
          </a:p>
        </p:txBody>
      </p:sp>
      <p:sp>
        <p:nvSpPr>
          <p:cNvPr id="121163518" name="Text 9"/>
          <p:cNvSpPr/>
          <p:nvPr/>
        </p:nvSpPr>
        <p:spPr bwMode="auto">
          <a:xfrm>
            <a:off x="9144000" y="201168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Prepare data</a:t>
            </a:r>
            <a:endParaRPr lang="en-US" sz="1400"/>
          </a:p>
        </p:txBody>
      </p:sp>
      <p:sp>
        <p:nvSpPr>
          <p:cNvPr id="635119883" name="Shape 10"/>
          <p:cNvSpPr/>
          <p:nvPr/>
        </p:nvSpPr>
        <p:spPr bwMode="auto">
          <a:xfrm>
            <a:off x="8613648" y="2587752"/>
            <a:ext cx="347472" cy="347472"/>
          </a:xfrm>
          <a:prstGeom prst="ellipse">
            <a:avLst/>
          </a:prstGeom>
          <a:solidFill>
            <a:srgbClr val="00B8B8"/>
          </a:solidFill>
          <a:ln w="12700">
            <a:solidFill>
              <a:srgbClr val="00B8B8"/>
            </a:solidFill>
            <a:prstDash val="solid"/>
          </a:ln>
        </p:spPr>
      </p:sp>
      <p:sp>
        <p:nvSpPr>
          <p:cNvPr id="577886395" name="Text 11"/>
          <p:cNvSpPr/>
          <p:nvPr/>
        </p:nvSpPr>
        <p:spPr bwMode="auto">
          <a:xfrm>
            <a:off x="8613648" y="26609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3</a:t>
            </a:r>
            <a:endParaRPr lang="en-US" sz="850"/>
          </a:p>
        </p:txBody>
      </p:sp>
      <p:sp>
        <p:nvSpPr>
          <p:cNvPr id="2064176192" name="Text 12"/>
          <p:cNvSpPr/>
          <p:nvPr/>
        </p:nvSpPr>
        <p:spPr bwMode="auto">
          <a:xfrm>
            <a:off x="9144000" y="260604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Parse</a:t>
            </a:r>
            <a:endParaRPr lang="en-US" sz="1400"/>
          </a:p>
        </p:txBody>
      </p:sp>
      <p:sp>
        <p:nvSpPr>
          <p:cNvPr id="1304102431" name="Shape 13"/>
          <p:cNvSpPr/>
          <p:nvPr/>
        </p:nvSpPr>
        <p:spPr bwMode="auto">
          <a:xfrm>
            <a:off x="8613648" y="3182112"/>
            <a:ext cx="347472" cy="347472"/>
          </a:xfrm>
          <a:prstGeom prst="ellipse">
            <a:avLst/>
          </a:prstGeom>
          <a:solidFill>
            <a:srgbClr val="00B8B8"/>
          </a:solidFill>
          <a:ln w="12700">
            <a:solidFill>
              <a:srgbClr val="00B8B8"/>
            </a:solidFill>
            <a:prstDash val="solid"/>
          </a:ln>
        </p:spPr>
      </p:sp>
      <p:sp>
        <p:nvSpPr>
          <p:cNvPr id="867486242" name="Text 14"/>
          <p:cNvSpPr/>
          <p:nvPr/>
        </p:nvSpPr>
        <p:spPr bwMode="auto">
          <a:xfrm>
            <a:off x="8613648" y="32552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4</a:t>
            </a:r>
            <a:endParaRPr lang="en-US" sz="850"/>
          </a:p>
        </p:txBody>
      </p:sp>
      <p:sp>
        <p:nvSpPr>
          <p:cNvPr id="1111911920" name="Text 15"/>
          <p:cNvSpPr/>
          <p:nvPr/>
        </p:nvSpPr>
        <p:spPr bwMode="auto">
          <a:xfrm>
            <a:off x="9144000" y="320040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Load</a:t>
            </a:r>
            <a:endParaRPr lang="en-US" sz="1400"/>
          </a:p>
        </p:txBody>
      </p:sp>
      <p:sp>
        <p:nvSpPr>
          <p:cNvPr id="1155614629" name="Shape 16"/>
          <p:cNvSpPr/>
          <p:nvPr/>
        </p:nvSpPr>
        <p:spPr bwMode="auto">
          <a:xfrm>
            <a:off x="8613648" y="377647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65265546" name="Text 17"/>
          <p:cNvSpPr/>
          <p:nvPr/>
        </p:nvSpPr>
        <p:spPr bwMode="auto">
          <a:xfrm>
            <a:off x="8613648" y="38496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5</a:t>
            </a:r>
            <a:endParaRPr lang="en-US" sz="850"/>
          </a:p>
        </p:txBody>
      </p:sp>
      <p:sp>
        <p:nvSpPr>
          <p:cNvPr id="1579438734" name="Text 18"/>
          <p:cNvSpPr/>
          <p:nvPr/>
        </p:nvSpPr>
        <p:spPr bwMode="auto">
          <a:xfrm>
            <a:off x="9144000" y="379476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Explore</a:t>
            </a:r>
            <a:endParaRPr lang="en-US" sz="1400"/>
          </a:p>
        </p:txBody>
      </p:sp>
      <p:sp>
        <p:nvSpPr>
          <p:cNvPr id="1233511402" name="Shape 19"/>
          <p:cNvSpPr/>
          <p:nvPr/>
        </p:nvSpPr>
        <p:spPr bwMode="auto">
          <a:xfrm>
            <a:off x="8613648" y="437083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76883695" name="Text 20"/>
          <p:cNvSpPr/>
          <p:nvPr/>
        </p:nvSpPr>
        <p:spPr bwMode="auto">
          <a:xfrm>
            <a:off x="8613648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6</a:t>
            </a:r>
            <a:endParaRPr lang="en-US" sz="850"/>
          </a:p>
        </p:txBody>
      </p:sp>
      <p:sp>
        <p:nvSpPr>
          <p:cNvPr id="1849933447" name="Text 21"/>
          <p:cNvSpPr/>
          <p:nvPr/>
        </p:nvSpPr>
        <p:spPr bwMode="auto">
          <a:xfrm>
            <a:off x="9144000" y="4389120"/>
            <a:ext cx="1508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Back up</a:t>
            </a:r>
            <a:endParaRPr lang="en-US" sz="1400"/>
          </a:p>
        </p:txBody>
      </p:sp>
      <p:sp>
        <p:nvSpPr>
          <p:cNvPr id="1360146693" name="Text 22"/>
          <p:cNvSpPr/>
          <p:nvPr/>
        </p:nvSpPr>
        <p:spPr bwMode="auto">
          <a:xfrm>
            <a:off x="822960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EB7C9"/>
                </a:solidFill>
              </a:rPr>
              <a:t>IlluQC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832741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s-ES" sz="2500" b="1">
                <a:solidFill>
                  <a:srgbClr val="14324A"/>
                </a:solidFill>
              </a:rPr>
              <a:t>Workflow</a:t>
            </a:r>
            <a:endParaRPr lang="en-US" sz="2500"/>
          </a:p>
        </p:txBody>
      </p:sp>
      <p:sp>
        <p:nvSpPr>
          <p:cNvPr id="1097527291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Three services transform external files into a browsable QC database</a:t>
            </a:r>
            <a:endParaRPr lang="en-US" sz="1150"/>
          </a:p>
        </p:txBody>
      </p:sp>
      <p:sp>
        <p:nvSpPr>
          <p:cNvPr id="2098963478" name="Shape 2"/>
          <p:cNvSpPr/>
          <p:nvPr/>
        </p:nvSpPr>
        <p:spPr bwMode="auto">
          <a:xfrm>
            <a:off x="502920" y="187452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8F1FA"/>
          </a:solidFill>
          <a:ln w="17780">
            <a:solidFill>
              <a:srgbClr val="3076B5"/>
            </a:solidFill>
            <a:prstDash val="solid"/>
          </a:ln>
        </p:spPr>
      </p:sp>
      <p:sp>
        <p:nvSpPr>
          <p:cNvPr id="2057428906" name="Shape 3"/>
          <p:cNvSpPr/>
          <p:nvPr/>
        </p:nvSpPr>
        <p:spPr bwMode="auto">
          <a:xfrm>
            <a:off x="1124712" y="2139696"/>
            <a:ext cx="640080" cy="640080"/>
          </a:xfrm>
          <a:prstGeom prst="ellipse">
            <a:avLst/>
          </a:prstGeom>
          <a:solidFill>
            <a:srgbClr val="3076B5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2136102392" name="Text 4"/>
          <p:cNvSpPr/>
          <p:nvPr/>
        </p:nvSpPr>
        <p:spPr bwMode="auto">
          <a:xfrm>
            <a:off x="1124712" y="2295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537994068" name="Text 5"/>
          <p:cNvSpPr/>
          <p:nvPr/>
        </p:nvSpPr>
        <p:spPr bwMode="auto">
          <a:xfrm>
            <a:off x="64008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3313D"/>
                </a:solidFill>
              </a:rPr>
              <a:t>Raw data</a:t>
            </a:r>
            <a:endParaRPr lang="en-US" sz="1600"/>
          </a:p>
        </p:txBody>
      </p:sp>
      <p:sp>
        <p:nvSpPr>
          <p:cNvPr id="153399450" name="Text 6"/>
          <p:cNvSpPr/>
          <p:nvPr/>
        </p:nvSpPr>
        <p:spPr bwMode="auto">
          <a:xfrm>
            <a:off x="667512" y="327355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Illumina folders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Thermo Fisher JSON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MultiQC statistics</a:t>
            </a:r>
            <a:endParaRPr lang="en-US" sz="1050"/>
          </a:p>
        </p:txBody>
      </p:sp>
      <p:sp>
        <p:nvSpPr>
          <p:cNvPr id="2030431359" name="Shape 7"/>
          <p:cNvSpPr/>
          <p:nvPr/>
        </p:nvSpPr>
        <p:spPr bwMode="auto">
          <a:xfrm>
            <a:off x="2441448" y="2670048"/>
            <a:ext cx="320040" cy="411480"/>
          </a:xfrm>
          <a:prstGeom prst="chevron">
            <a:avLst>
              <a:gd name="adj" fmla="val 50000"/>
            </a:avLst>
          </a:prstGeom>
          <a:solidFill>
            <a:srgbClr val="A9B7C3"/>
          </a:solidFill>
          <a:ln w="12700">
            <a:solidFill>
              <a:srgbClr val="A9B7C3"/>
            </a:solidFill>
            <a:prstDash val="solid"/>
          </a:ln>
        </p:spPr>
      </p:sp>
      <p:sp>
        <p:nvSpPr>
          <p:cNvPr id="92754772" name="Shape 8"/>
          <p:cNvSpPr/>
          <p:nvPr/>
        </p:nvSpPr>
        <p:spPr bwMode="auto">
          <a:xfrm>
            <a:off x="2834640" y="187452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DDF4F3"/>
          </a:solidFill>
          <a:ln w="17780">
            <a:solidFill>
              <a:srgbClr val="008C8C"/>
            </a:solidFill>
            <a:prstDash val="solid"/>
          </a:ln>
        </p:spPr>
      </p:sp>
      <p:sp>
        <p:nvSpPr>
          <p:cNvPr id="2109381643" name="Shape 9"/>
          <p:cNvSpPr/>
          <p:nvPr/>
        </p:nvSpPr>
        <p:spPr bwMode="auto">
          <a:xfrm>
            <a:off x="3456432" y="2139696"/>
            <a:ext cx="640080" cy="64008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79891523" name="Text 10"/>
          <p:cNvSpPr/>
          <p:nvPr/>
        </p:nvSpPr>
        <p:spPr bwMode="auto">
          <a:xfrm>
            <a:off x="3456432" y="2295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935022199" name="Text 11"/>
          <p:cNvSpPr/>
          <p:nvPr/>
        </p:nvSpPr>
        <p:spPr bwMode="auto">
          <a:xfrm>
            <a:off x="297180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3313D"/>
                </a:solidFill>
              </a:rPr>
              <a:t>Parser</a:t>
            </a:r>
            <a:endParaRPr lang="en-US" sz="1600"/>
          </a:p>
        </p:txBody>
      </p:sp>
      <p:sp>
        <p:nvSpPr>
          <p:cNvPr id="569805508" name="Text 12"/>
          <p:cNvSpPr/>
          <p:nvPr/>
        </p:nvSpPr>
        <p:spPr bwMode="auto">
          <a:xfrm>
            <a:off x="2999232" y="327355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Normalizes vendor data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into stable CSV files</a:t>
            </a:r>
            <a:endParaRPr lang="en-US" sz="1050"/>
          </a:p>
        </p:txBody>
      </p:sp>
      <p:sp>
        <p:nvSpPr>
          <p:cNvPr id="1815524296" name="Shape 13"/>
          <p:cNvSpPr/>
          <p:nvPr/>
        </p:nvSpPr>
        <p:spPr bwMode="auto">
          <a:xfrm>
            <a:off x="4773168" y="2670048"/>
            <a:ext cx="320040" cy="411480"/>
          </a:xfrm>
          <a:prstGeom prst="chevron">
            <a:avLst>
              <a:gd name="adj" fmla="val 50000"/>
            </a:avLst>
          </a:prstGeom>
          <a:solidFill>
            <a:srgbClr val="A9B7C3"/>
          </a:solidFill>
          <a:ln w="12700">
            <a:solidFill>
              <a:srgbClr val="A9B7C3"/>
            </a:solidFill>
            <a:prstDash val="solid"/>
          </a:ln>
        </p:spPr>
      </p:sp>
      <p:sp>
        <p:nvSpPr>
          <p:cNvPr id="841607631" name="Shape 14"/>
          <p:cNvSpPr/>
          <p:nvPr/>
        </p:nvSpPr>
        <p:spPr bwMode="auto">
          <a:xfrm>
            <a:off x="5166360" y="187452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CE8D5"/>
          </a:solidFill>
          <a:ln w="17780">
            <a:solidFill>
              <a:srgbClr val="F2994A"/>
            </a:solidFill>
            <a:prstDash val="solid"/>
          </a:ln>
        </p:spPr>
      </p:sp>
      <p:sp>
        <p:nvSpPr>
          <p:cNvPr id="1851288854" name="Shape 15"/>
          <p:cNvSpPr/>
          <p:nvPr/>
        </p:nvSpPr>
        <p:spPr bwMode="auto">
          <a:xfrm>
            <a:off x="5788152" y="2139696"/>
            <a:ext cx="640080" cy="6400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15330962" name="Text 16"/>
          <p:cNvSpPr/>
          <p:nvPr/>
        </p:nvSpPr>
        <p:spPr bwMode="auto">
          <a:xfrm>
            <a:off x="5788152" y="2295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113153088" name="Text 17"/>
          <p:cNvSpPr/>
          <p:nvPr/>
        </p:nvSpPr>
        <p:spPr bwMode="auto">
          <a:xfrm>
            <a:off x="530352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3313D"/>
                </a:solidFill>
              </a:rPr>
              <a:t>Loader</a:t>
            </a:r>
            <a:endParaRPr lang="en-US" sz="1600"/>
          </a:p>
        </p:txBody>
      </p:sp>
      <p:sp>
        <p:nvSpPr>
          <p:cNvPr id="2029054645" name="Text 18"/>
          <p:cNvSpPr/>
          <p:nvPr/>
        </p:nvSpPr>
        <p:spPr bwMode="auto">
          <a:xfrm>
            <a:off x="5330952" y="327355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Validates headers and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inserts records </a:t>
            </a:r>
            <a:endParaRPr lang="en-US" sz="1050"/>
          </a:p>
        </p:txBody>
      </p:sp>
      <p:sp>
        <p:nvSpPr>
          <p:cNvPr id="1596318713" name="Shape 19"/>
          <p:cNvSpPr/>
          <p:nvPr/>
        </p:nvSpPr>
        <p:spPr bwMode="auto">
          <a:xfrm>
            <a:off x="7104888" y="2670048"/>
            <a:ext cx="320040" cy="411480"/>
          </a:xfrm>
          <a:prstGeom prst="chevron">
            <a:avLst>
              <a:gd name="adj" fmla="val 50000"/>
            </a:avLst>
          </a:prstGeom>
          <a:solidFill>
            <a:srgbClr val="A9B7C3"/>
          </a:solidFill>
          <a:ln w="12700">
            <a:solidFill>
              <a:srgbClr val="A9B7C3"/>
            </a:solidFill>
            <a:prstDash val="solid"/>
          </a:ln>
        </p:spPr>
      </p:sp>
      <p:sp>
        <p:nvSpPr>
          <p:cNvPr id="1818713304" name="Shape 20"/>
          <p:cNvSpPr/>
          <p:nvPr/>
        </p:nvSpPr>
        <p:spPr bwMode="auto">
          <a:xfrm>
            <a:off x="7498080" y="187452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1F3E8"/>
          </a:solidFill>
          <a:ln w="17780">
            <a:solidFill>
              <a:srgbClr val="2E8B57"/>
            </a:solidFill>
            <a:prstDash val="solid"/>
          </a:ln>
        </p:spPr>
      </p:sp>
      <p:sp>
        <p:nvSpPr>
          <p:cNvPr id="2063529186" name="Shape 21"/>
          <p:cNvSpPr/>
          <p:nvPr/>
        </p:nvSpPr>
        <p:spPr bwMode="auto">
          <a:xfrm>
            <a:off x="8119872" y="2139696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75824055" name="Text 22"/>
          <p:cNvSpPr/>
          <p:nvPr/>
        </p:nvSpPr>
        <p:spPr bwMode="auto">
          <a:xfrm>
            <a:off x="8119872" y="2295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384902311" name="Text 23"/>
          <p:cNvSpPr/>
          <p:nvPr/>
        </p:nvSpPr>
        <p:spPr bwMode="auto">
          <a:xfrm>
            <a:off x="763524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3313D"/>
                </a:solidFill>
              </a:rPr>
              <a:t>PostgreSQL</a:t>
            </a:r>
            <a:endParaRPr lang="en-US" sz="1600"/>
          </a:p>
        </p:txBody>
      </p:sp>
      <p:sp>
        <p:nvSpPr>
          <p:cNvPr id="457758717" name="Text 24"/>
          <p:cNvSpPr/>
          <p:nvPr/>
        </p:nvSpPr>
        <p:spPr bwMode="auto">
          <a:xfrm>
            <a:off x="7662672" y="327355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Stores runs, samples,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libraries and metrics</a:t>
            </a:r>
            <a:endParaRPr lang="en-US" sz="1050"/>
          </a:p>
        </p:txBody>
      </p:sp>
      <p:sp>
        <p:nvSpPr>
          <p:cNvPr id="2074373158" name="Shape 25"/>
          <p:cNvSpPr/>
          <p:nvPr/>
        </p:nvSpPr>
        <p:spPr bwMode="auto">
          <a:xfrm>
            <a:off x="9436608" y="2670048"/>
            <a:ext cx="320040" cy="411480"/>
          </a:xfrm>
          <a:prstGeom prst="chevron">
            <a:avLst>
              <a:gd name="adj" fmla="val 50000"/>
            </a:avLst>
          </a:prstGeom>
          <a:solidFill>
            <a:srgbClr val="A9B7C3"/>
          </a:solidFill>
          <a:ln w="12700">
            <a:solidFill>
              <a:srgbClr val="A9B7C3"/>
            </a:solidFill>
            <a:prstDash val="solid"/>
          </a:ln>
        </p:spPr>
      </p:sp>
      <p:sp>
        <p:nvSpPr>
          <p:cNvPr id="1694644391" name="Shape 26"/>
          <p:cNvSpPr/>
          <p:nvPr/>
        </p:nvSpPr>
        <p:spPr bwMode="auto">
          <a:xfrm>
            <a:off x="9829800" y="187452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8E2F6"/>
          </a:solidFill>
          <a:ln w="17780">
            <a:solidFill>
              <a:srgbClr val="7655A3"/>
            </a:solidFill>
            <a:prstDash val="solid"/>
          </a:ln>
        </p:spPr>
      </p:sp>
      <p:sp>
        <p:nvSpPr>
          <p:cNvPr id="1626436314" name="Shape 27"/>
          <p:cNvSpPr/>
          <p:nvPr/>
        </p:nvSpPr>
        <p:spPr bwMode="auto">
          <a:xfrm>
            <a:off x="10451592" y="2139696"/>
            <a:ext cx="640080" cy="640080"/>
          </a:xfrm>
          <a:prstGeom prst="ellipse">
            <a:avLst/>
          </a:prstGeom>
          <a:solidFill>
            <a:srgbClr val="7655A3"/>
          </a:solidFill>
          <a:ln w="12700">
            <a:solidFill>
              <a:srgbClr val="7655A3"/>
            </a:solidFill>
            <a:prstDash val="solid"/>
          </a:ln>
        </p:spPr>
      </p:sp>
      <p:sp>
        <p:nvSpPr>
          <p:cNvPr id="1132341315" name="Text 28"/>
          <p:cNvSpPr/>
          <p:nvPr/>
        </p:nvSpPr>
        <p:spPr bwMode="auto">
          <a:xfrm>
            <a:off x="10451592" y="2295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1669000454" name="Text 29"/>
          <p:cNvSpPr/>
          <p:nvPr/>
        </p:nvSpPr>
        <p:spPr bwMode="auto">
          <a:xfrm>
            <a:off x="996696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3313D"/>
                </a:solidFill>
              </a:rPr>
              <a:t>Dashboard</a:t>
            </a:r>
            <a:endParaRPr lang="en-US" sz="1600"/>
          </a:p>
        </p:txBody>
      </p:sp>
      <p:sp>
        <p:nvSpPr>
          <p:cNvPr id="1145917318" name="Text 30"/>
          <p:cNvSpPr/>
          <p:nvPr/>
        </p:nvSpPr>
        <p:spPr bwMode="auto">
          <a:xfrm>
            <a:off x="9994392" y="327355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Explore runs, protocols,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samples and trends</a:t>
            </a:r>
            <a:endParaRPr lang="en-US" sz="1050"/>
          </a:p>
        </p:txBody>
      </p:sp>
      <p:sp>
        <p:nvSpPr>
          <p:cNvPr id="665782318" name="Shape 31"/>
          <p:cNvSpPr/>
          <p:nvPr/>
        </p:nvSpPr>
        <p:spPr bwMode="auto">
          <a:xfrm>
            <a:off x="1417320" y="4617720"/>
            <a:ext cx="9372600" cy="868680"/>
          </a:xfrm>
          <a:prstGeom prst="roundRect">
            <a:avLst>
              <a:gd name="adj" fmla="val 5263"/>
            </a:avLst>
          </a:prstGeom>
          <a:solidFill>
            <a:srgbClr val="E8F1FA"/>
          </a:solidFill>
          <a:ln w="15240">
            <a:solidFill>
              <a:srgbClr val="3076B5"/>
            </a:solidFill>
            <a:prstDash val="solid"/>
          </a:ln>
        </p:spPr>
      </p:sp>
      <p:sp>
        <p:nvSpPr>
          <p:cNvPr id="1413469161" name="Text 32"/>
          <p:cNvSpPr/>
          <p:nvPr/>
        </p:nvSpPr>
        <p:spPr bwMode="auto">
          <a:xfrm>
            <a:off x="1600200" y="4754880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Core principle</a:t>
            </a:r>
            <a:endParaRPr lang="en-US" sz="1250"/>
          </a:p>
        </p:txBody>
      </p:sp>
      <p:sp>
        <p:nvSpPr>
          <p:cNvPr id="723522901" name="Text 33"/>
          <p:cNvSpPr/>
          <p:nvPr/>
        </p:nvSpPr>
        <p:spPr bwMode="auto">
          <a:xfrm>
            <a:off x="1600200" y="5029200"/>
            <a:ext cx="9006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Raw data, processed CSVs, logs, backups and PostgreSQL storage remain outside containers and persist independently.</a:t>
            </a:r>
            <a:endParaRPr lang="en-US" sz="1050"/>
          </a:p>
        </p:txBody>
      </p:sp>
      <p:sp>
        <p:nvSpPr>
          <p:cNvPr id="163897026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483306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1</a:t>
            </a:r>
            <a:r>
              <a:rPr lang="es-ES" sz="2500" b="1">
                <a:solidFill>
                  <a:srgbClr val="14324A"/>
                </a:solidFill>
              </a:rPr>
              <a:t>.</a:t>
            </a:r>
            <a:r>
              <a:rPr lang="en-US" sz="2500" b="1">
                <a:solidFill>
                  <a:srgbClr val="14324A"/>
                </a:solidFill>
              </a:rPr>
              <a:t> Prepare the workstation</a:t>
            </a:r>
            <a:endParaRPr lang="en-US" sz="2500"/>
          </a:p>
        </p:txBody>
      </p:sp>
      <p:sp>
        <p:nvSpPr>
          <p:cNvPr id="1692192658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Confirm the required software and access before configuring IlluQC</a:t>
            </a:r>
            <a:endParaRPr lang="en-US" sz="1150"/>
          </a:p>
        </p:txBody>
      </p:sp>
      <p:sp>
        <p:nvSpPr>
          <p:cNvPr id="43044762" name="Shape 2"/>
          <p:cNvSpPr/>
          <p:nvPr/>
        </p:nvSpPr>
        <p:spPr bwMode="auto">
          <a:xfrm>
            <a:off x="640080" y="1417320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401220477" name="Shape 3"/>
          <p:cNvSpPr/>
          <p:nvPr/>
        </p:nvSpPr>
        <p:spPr bwMode="auto">
          <a:xfrm>
            <a:off x="804672" y="1618488"/>
            <a:ext cx="548640" cy="548640"/>
          </a:xfrm>
          <a:prstGeom prst="ellipse">
            <a:avLst/>
          </a:prstGeom>
          <a:solidFill>
            <a:srgbClr val="3076B5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1148583062" name="Text 4"/>
          <p:cNvSpPr/>
          <p:nvPr/>
        </p:nvSpPr>
        <p:spPr bwMode="auto">
          <a:xfrm>
            <a:off x="804672" y="17785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FFFFF"/>
                </a:solidFill>
              </a:rPr>
              <a:t>1</a:t>
            </a:r>
            <a:endParaRPr lang="en-US" sz="1500"/>
          </a:p>
        </p:txBody>
      </p:sp>
      <p:sp>
        <p:nvSpPr>
          <p:cNvPr id="1714034111" name="Text 5"/>
          <p:cNvSpPr/>
          <p:nvPr/>
        </p:nvSpPr>
        <p:spPr bwMode="auto">
          <a:xfrm>
            <a:off x="1508759" y="1600200"/>
            <a:ext cx="416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Install</a:t>
            </a:r>
            <a:endParaRPr lang="en-US" sz="1500"/>
          </a:p>
        </p:txBody>
      </p:sp>
      <p:sp>
        <p:nvSpPr>
          <p:cNvPr id="45239803" name="Text 6"/>
          <p:cNvSpPr/>
          <p:nvPr/>
        </p:nvSpPr>
        <p:spPr bwMode="auto">
          <a:xfrm>
            <a:off x="1508759" y="1901952"/>
            <a:ext cx="4160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Git · Docker Compose v2 · Make</a:t>
            </a:r>
            <a:endParaRPr lang="en-US" sz="1050"/>
          </a:p>
        </p:txBody>
      </p:sp>
      <p:sp>
        <p:nvSpPr>
          <p:cNvPr id="1185828289" name="Shape 7"/>
          <p:cNvSpPr/>
          <p:nvPr/>
        </p:nvSpPr>
        <p:spPr bwMode="auto">
          <a:xfrm>
            <a:off x="640080" y="2596896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145054835" name="Shape 8"/>
          <p:cNvSpPr/>
          <p:nvPr/>
        </p:nvSpPr>
        <p:spPr bwMode="auto">
          <a:xfrm>
            <a:off x="804672" y="2798063"/>
            <a:ext cx="548640" cy="54864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143714503" name="Text 10"/>
          <p:cNvSpPr/>
          <p:nvPr/>
        </p:nvSpPr>
        <p:spPr bwMode="auto">
          <a:xfrm>
            <a:off x="1508759" y="2779775"/>
            <a:ext cx="416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Check Docker</a:t>
            </a:r>
            <a:endParaRPr lang="en-US" sz="1500"/>
          </a:p>
        </p:txBody>
      </p:sp>
      <p:sp>
        <p:nvSpPr>
          <p:cNvPr id="1493809607" name="Text 11"/>
          <p:cNvSpPr/>
          <p:nvPr/>
        </p:nvSpPr>
        <p:spPr bwMode="auto">
          <a:xfrm>
            <a:off x="1508759" y="3081527"/>
            <a:ext cx="4160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Docker must be running and reachable</a:t>
            </a:r>
            <a:r>
              <a:rPr lang="es-ES" sz="1050">
                <a:solidFill>
                  <a:srgbClr val="5D6B78"/>
                </a:solidFill>
              </a:rPr>
              <a:t>.</a:t>
            </a:r>
            <a:endParaRPr lang="en-US" sz="1050"/>
          </a:p>
        </p:txBody>
      </p:sp>
      <p:sp>
        <p:nvSpPr>
          <p:cNvPr id="1436700537" name="Shape 12"/>
          <p:cNvSpPr/>
          <p:nvPr/>
        </p:nvSpPr>
        <p:spPr bwMode="auto">
          <a:xfrm>
            <a:off x="640080" y="3730752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881971469" name="Shape 13"/>
          <p:cNvSpPr/>
          <p:nvPr/>
        </p:nvSpPr>
        <p:spPr bwMode="auto">
          <a:xfrm>
            <a:off x="804672" y="3931920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29003104" name="Text 15"/>
          <p:cNvSpPr/>
          <p:nvPr/>
        </p:nvSpPr>
        <p:spPr bwMode="auto">
          <a:xfrm>
            <a:off x="1508759" y="3913632"/>
            <a:ext cx="416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Check storage</a:t>
            </a:r>
            <a:endParaRPr lang="en-US" sz="1500"/>
          </a:p>
        </p:txBody>
      </p:sp>
      <p:sp>
        <p:nvSpPr>
          <p:cNvPr id="1044139500" name="Text 16"/>
          <p:cNvSpPr/>
          <p:nvPr/>
        </p:nvSpPr>
        <p:spPr bwMode="auto">
          <a:xfrm>
            <a:off x="1508759" y="4215384"/>
            <a:ext cx="4160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You need read access to raw data and write access to processed data, logs, backups and PostgreSQL storage.</a:t>
            </a:r>
            <a:endParaRPr lang="en-US" sz="1050"/>
          </a:p>
        </p:txBody>
      </p:sp>
      <p:sp>
        <p:nvSpPr>
          <p:cNvPr id="1218646480" name="Shape 22"/>
          <p:cNvSpPr/>
          <p:nvPr/>
        </p:nvSpPr>
        <p:spPr bwMode="auto">
          <a:xfrm flipH="0" flipV="0">
            <a:off x="1646457" y="4926210"/>
            <a:ext cx="3209006" cy="1170432"/>
          </a:xfrm>
          <a:prstGeom prst="roundRect">
            <a:avLst>
              <a:gd name="adj" fmla="val 3906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54738140" name="Text 23"/>
          <p:cNvSpPr/>
          <p:nvPr/>
        </p:nvSpPr>
        <p:spPr bwMode="auto">
          <a:xfrm flipH="0" flipV="0">
            <a:off x="1819655" y="5063370"/>
            <a:ext cx="2852928" cy="896112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git --version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docker --version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--version</a:t>
            </a:r>
            <a:endParaRPr lang="en-US" sz="1150"/>
          </a:p>
        </p:txBody>
      </p:sp>
      <p:sp>
        <p:nvSpPr>
          <p:cNvPr id="76453069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188916152" name="Text 4"/>
          <p:cNvSpPr/>
          <p:nvPr/>
        </p:nvSpPr>
        <p:spPr bwMode="auto">
          <a:xfrm>
            <a:off x="804672" y="2967227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600" b="1">
                <a:solidFill>
                  <a:schemeClr val="bg1"/>
                </a:solidFill>
              </a:rPr>
              <a:t>2</a:t>
            </a:r>
            <a:endParaRPr lang="en-US" sz="2600" b="1" i="0" u="none" strike="noStrike" cap="none" spc="0">
              <a:solidFill>
                <a:srgbClr val="FFFFFF"/>
              </a:solidFill>
              <a:latin typeface="Aptos"/>
              <a:cs typeface="Aptos"/>
            </a:endParaRPr>
          </a:p>
        </p:txBody>
      </p:sp>
      <p:sp>
        <p:nvSpPr>
          <p:cNvPr id="794772625" name="Text 4"/>
          <p:cNvSpPr/>
          <p:nvPr/>
        </p:nvSpPr>
        <p:spPr bwMode="auto">
          <a:xfrm>
            <a:off x="804672" y="41010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600" b="1">
                <a:solidFill>
                  <a:schemeClr val="bg1"/>
                </a:solidFill>
              </a:rPr>
              <a:t>3</a:t>
            </a:r>
            <a:endParaRPr lang="en-US" sz="2600" b="1" i="0" u="none" strike="noStrike" cap="none" spc="0">
              <a:solidFill>
                <a:srgbClr val="FFFFFF"/>
              </a:solidFill>
              <a:latin typeface="Aptos"/>
              <a:cs typeface="Aptos"/>
            </a:endParaRPr>
          </a:p>
        </p:txBody>
      </p:sp>
      <p:sp>
        <p:nvSpPr>
          <p:cNvPr id="587665562" name="Text 0"/>
          <p:cNvSpPr/>
          <p:nvPr/>
        </p:nvSpPr>
        <p:spPr bwMode="auto">
          <a:xfrm>
            <a:off x="6791655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2</a:t>
            </a:r>
            <a:r>
              <a:rPr lang="es-ES" sz="2500" b="1">
                <a:solidFill>
                  <a:srgbClr val="14324A"/>
                </a:solidFill>
              </a:rPr>
              <a:t>.</a:t>
            </a:r>
            <a:r>
              <a:rPr lang="en-US" sz="2500" b="1">
                <a:solidFill>
                  <a:srgbClr val="14324A"/>
                </a:solidFill>
              </a:rPr>
              <a:t> Configure IlluQC</a:t>
            </a:r>
            <a:endParaRPr lang="en-US" sz="2500"/>
          </a:p>
        </p:txBody>
      </p:sp>
      <p:sp>
        <p:nvSpPr>
          <p:cNvPr id="885553270" name="Text 1"/>
          <p:cNvSpPr/>
          <p:nvPr/>
        </p:nvSpPr>
        <p:spPr bwMode="auto">
          <a:xfrm>
            <a:off x="6773367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Create a local environment file and review every external path</a:t>
            </a:r>
            <a:endParaRPr lang="en-US" sz="1150"/>
          </a:p>
        </p:txBody>
      </p:sp>
      <p:sp>
        <p:nvSpPr>
          <p:cNvPr id="1896184246" name="Shape 2"/>
          <p:cNvSpPr/>
          <p:nvPr/>
        </p:nvSpPr>
        <p:spPr bwMode="auto">
          <a:xfrm>
            <a:off x="6910527" y="1467612"/>
            <a:ext cx="5029199" cy="713232"/>
          </a:xfrm>
          <a:prstGeom prst="roundRect">
            <a:avLst>
              <a:gd name="adj" fmla="val 6410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549142793" name="Text 3"/>
          <p:cNvSpPr/>
          <p:nvPr/>
        </p:nvSpPr>
        <p:spPr bwMode="auto">
          <a:xfrm>
            <a:off x="7093407" y="1604772"/>
            <a:ext cx="4663440" cy="438912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cp .env.example .env</a:t>
            </a:r>
            <a:endParaRPr lang="en-US" sz="1150"/>
          </a:p>
        </p:txBody>
      </p:sp>
      <p:sp>
        <p:nvSpPr>
          <p:cNvPr id="523863477" name="Text 4"/>
          <p:cNvSpPr/>
          <p:nvPr/>
        </p:nvSpPr>
        <p:spPr bwMode="auto">
          <a:xfrm>
            <a:off x="6937959" y="25374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s-ES" sz="1700" b="1">
                <a:solidFill>
                  <a:srgbClr val="23313D"/>
                </a:solidFill>
              </a:rPr>
              <a:t>Modify</a:t>
            </a:r>
            <a:r>
              <a:rPr lang="en-US" sz="1700" b="1">
                <a:solidFill>
                  <a:srgbClr val="23313D"/>
                </a:solidFill>
              </a:rPr>
              <a:t> </a:t>
            </a:r>
            <a:r>
              <a:rPr lang="es-ES" sz="1700" b="1">
                <a:solidFill>
                  <a:srgbClr val="23313D"/>
                </a:solidFill>
              </a:rPr>
              <a:t>paths/</a:t>
            </a:r>
            <a:r>
              <a:rPr lang="en-US" sz="1700" b="1">
                <a:solidFill>
                  <a:srgbClr val="23313D"/>
                </a:solidFill>
              </a:rPr>
              <a:t>values in .env</a:t>
            </a:r>
            <a:endParaRPr lang="en-US" sz="1700"/>
          </a:p>
        </p:txBody>
      </p:sp>
      <p:sp>
        <p:nvSpPr>
          <p:cNvPr id="1025753477" name="Shape 5"/>
          <p:cNvSpPr/>
          <p:nvPr/>
        </p:nvSpPr>
        <p:spPr bwMode="auto">
          <a:xfrm>
            <a:off x="6983679" y="3003804"/>
            <a:ext cx="182880" cy="18288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79587476" name="Text 6"/>
          <p:cNvSpPr/>
          <p:nvPr/>
        </p:nvSpPr>
        <p:spPr bwMode="auto">
          <a:xfrm>
            <a:off x="7230567" y="2967227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POSTGRES_PASSWORD</a:t>
            </a:r>
            <a:endParaRPr lang="en-US" sz="1050"/>
          </a:p>
        </p:txBody>
      </p:sp>
      <p:sp>
        <p:nvSpPr>
          <p:cNvPr id="1143717522" name="Text 7"/>
          <p:cNvSpPr/>
          <p:nvPr/>
        </p:nvSpPr>
        <p:spPr bwMode="auto">
          <a:xfrm>
            <a:off x="9379407" y="30038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Replace the example with a long random secret</a:t>
            </a:r>
            <a:endParaRPr lang="en-US" sz="1050"/>
          </a:p>
        </p:txBody>
      </p:sp>
      <p:sp>
        <p:nvSpPr>
          <p:cNvPr id="531264099" name="Shape 8"/>
          <p:cNvSpPr/>
          <p:nvPr/>
        </p:nvSpPr>
        <p:spPr bwMode="auto">
          <a:xfrm>
            <a:off x="6983679" y="3506724"/>
            <a:ext cx="182880" cy="18288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319038478" name="Text 9"/>
          <p:cNvSpPr/>
          <p:nvPr/>
        </p:nvSpPr>
        <p:spPr bwMode="auto">
          <a:xfrm>
            <a:off x="7276287" y="3493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*_RAW_DATA_DIR</a:t>
            </a:r>
            <a:endParaRPr lang="en-US" sz="1050"/>
          </a:p>
        </p:txBody>
      </p:sp>
      <p:sp>
        <p:nvSpPr>
          <p:cNvPr id="1762640365" name="Text 10"/>
          <p:cNvSpPr/>
          <p:nvPr/>
        </p:nvSpPr>
        <p:spPr bwMode="auto">
          <a:xfrm>
            <a:off x="9379407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Point to Illumina and Thermo Fisher inputs</a:t>
            </a:r>
            <a:endParaRPr lang="en-US" sz="1050"/>
          </a:p>
        </p:txBody>
      </p:sp>
      <p:sp>
        <p:nvSpPr>
          <p:cNvPr id="1528363731" name="Shape 11"/>
          <p:cNvSpPr/>
          <p:nvPr/>
        </p:nvSpPr>
        <p:spPr bwMode="auto">
          <a:xfrm>
            <a:off x="6983679" y="4009644"/>
            <a:ext cx="182880" cy="18288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021034528" name="Text 12"/>
          <p:cNvSpPr/>
          <p:nvPr/>
        </p:nvSpPr>
        <p:spPr bwMode="auto">
          <a:xfrm>
            <a:off x="7276287" y="40096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PROCESSED_DATA_DIR</a:t>
            </a:r>
            <a:endParaRPr lang="en-US" sz="1050"/>
          </a:p>
        </p:txBody>
      </p:sp>
      <p:sp>
        <p:nvSpPr>
          <p:cNvPr id="498334068" name="Text 13"/>
          <p:cNvSpPr/>
          <p:nvPr/>
        </p:nvSpPr>
        <p:spPr bwMode="auto">
          <a:xfrm>
            <a:off x="9379407" y="39364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Destination for normalized CSV files</a:t>
            </a:r>
            <a:endParaRPr lang="en-US" sz="1050"/>
          </a:p>
        </p:txBody>
      </p:sp>
      <p:sp>
        <p:nvSpPr>
          <p:cNvPr id="1841828595" name="Shape 14"/>
          <p:cNvSpPr/>
          <p:nvPr/>
        </p:nvSpPr>
        <p:spPr bwMode="auto">
          <a:xfrm>
            <a:off x="6983679" y="4512564"/>
            <a:ext cx="182880" cy="18288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33176330" name="Text 15"/>
          <p:cNvSpPr/>
          <p:nvPr/>
        </p:nvSpPr>
        <p:spPr bwMode="auto">
          <a:xfrm>
            <a:off x="7276287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POSTGRES_DATA_DIR</a:t>
            </a:r>
            <a:endParaRPr lang="en-US" sz="1050"/>
          </a:p>
        </p:txBody>
      </p:sp>
      <p:sp>
        <p:nvSpPr>
          <p:cNvPr id="1971693076" name="Text 16"/>
          <p:cNvSpPr/>
          <p:nvPr/>
        </p:nvSpPr>
        <p:spPr bwMode="auto">
          <a:xfrm>
            <a:off x="9379407" y="45125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Durable database storage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902441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3</a:t>
            </a:r>
            <a:r>
              <a:rPr lang="es-ES" sz="2500" b="1">
                <a:solidFill>
                  <a:srgbClr val="14324A"/>
                </a:solidFill>
              </a:rPr>
              <a:t>. </a:t>
            </a:r>
            <a:r>
              <a:rPr lang="en-US" sz="2500" b="1">
                <a:solidFill>
                  <a:srgbClr val="14324A"/>
                </a:solidFill>
              </a:rPr>
              <a:t>Create directories and start services</a:t>
            </a:r>
            <a:endParaRPr lang="en-US" sz="2500"/>
          </a:p>
        </p:txBody>
      </p:sp>
      <p:sp>
        <p:nvSpPr>
          <p:cNvPr id="1986382642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IlluQC creates its external working layout, then starts PostgreSQL and Streamlit</a:t>
            </a:r>
            <a:endParaRPr lang="en-US" sz="1150"/>
          </a:p>
        </p:txBody>
      </p:sp>
      <p:sp>
        <p:nvSpPr>
          <p:cNvPr id="973975366" name="Shape 2"/>
          <p:cNvSpPr/>
          <p:nvPr/>
        </p:nvSpPr>
        <p:spPr bwMode="auto">
          <a:xfrm>
            <a:off x="685800" y="128016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1425293745" name="Text 3"/>
          <p:cNvSpPr/>
          <p:nvPr/>
        </p:nvSpPr>
        <p:spPr bwMode="auto">
          <a:xfrm>
            <a:off x="868680" y="1417320"/>
            <a:ext cx="4572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setup-data-dirs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up</a:t>
            </a:r>
            <a:endParaRPr lang="en-US" sz="1150"/>
          </a:p>
        </p:txBody>
      </p:sp>
      <p:sp>
        <p:nvSpPr>
          <p:cNvPr id="1153817450" name="Text 4"/>
          <p:cNvSpPr/>
          <p:nvPr/>
        </p:nvSpPr>
        <p:spPr bwMode="auto"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3313D"/>
                </a:solidFill>
              </a:rPr>
              <a:t>Default external layout</a:t>
            </a:r>
            <a:endParaRPr lang="en-US" sz="1700"/>
          </a:p>
        </p:txBody>
      </p:sp>
      <p:sp>
        <p:nvSpPr>
          <p:cNvPr id="474413286" name="Shape 5"/>
          <p:cNvSpPr/>
          <p:nvPr/>
        </p:nvSpPr>
        <p:spPr bwMode="auto">
          <a:xfrm>
            <a:off x="685800" y="3090672"/>
            <a:ext cx="4937760" cy="2331720"/>
          </a:xfrm>
          <a:prstGeom prst="roundRect">
            <a:avLst>
              <a:gd name="adj" fmla="val 1961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294169326" name="Text 6"/>
          <p:cNvSpPr/>
          <p:nvPr/>
        </p:nvSpPr>
        <p:spPr bwMode="auto">
          <a:xfrm>
            <a:off x="868680" y="3227832"/>
            <a:ext cx="45720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../NGS_Data/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├── raw_data/illumina/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├── raw_data/thermofisher/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├── processed/{Runs_Data,Samples_Data}/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├── logs/{parser,loader,app}/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├── backups/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└── postgres_data/</a:t>
            </a:r>
            <a:endParaRPr lang="en-US" sz="1150"/>
          </a:p>
        </p:txBody>
      </p:sp>
      <p:sp>
        <p:nvSpPr>
          <p:cNvPr id="35103971" name="Shape 7"/>
          <p:cNvSpPr/>
          <p:nvPr/>
        </p:nvSpPr>
        <p:spPr bwMode="auto">
          <a:xfrm>
            <a:off x="6172200" y="128016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799275135" name="Shape 8"/>
          <p:cNvSpPr/>
          <p:nvPr/>
        </p:nvSpPr>
        <p:spPr bwMode="auto">
          <a:xfrm>
            <a:off x="6336792" y="1481328"/>
            <a:ext cx="548640" cy="548640"/>
          </a:xfrm>
          <a:prstGeom prst="ellipse">
            <a:avLst/>
          </a:prstGeom>
          <a:solidFill>
            <a:srgbClr val="3076B5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1634138633" name="Text 9"/>
          <p:cNvSpPr/>
          <p:nvPr/>
        </p:nvSpPr>
        <p:spPr bwMode="auto">
          <a:xfrm>
            <a:off x="6336792" y="15636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1</a:t>
            </a:r>
            <a:endParaRPr lang="en-US" sz="1500"/>
          </a:p>
        </p:txBody>
      </p:sp>
      <p:sp>
        <p:nvSpPr>
          <p:cNvPr id="309748176" name="Text 10"/>
          <p:cNvSpPr/>
          <p:nvPr/>
        </p:nvSpPr>
        <p:spPr bwMode="auto">
          <a:xfrm>
            <a:off x="704088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PostgreSQL</a:t>
            </a:r>
            <a:endParaRPr lang="en-US" sz="1500"/>
          </a:p>
        </p:txBody>
      </p:sp>
      <p:sp>
        <p:nvSpPr>
          <p:cNvPr id="1610596018" name="Text 11"/>
          <p:cNvSpPr/>
          <p:nvPr/>
        </p:nvSpPr>
        <p:spPr bwMode="auto">
          <a:xfrm>
            <a:off x="7040880" y="17647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Initializes the schema only when postgres_data is empty.</a:t>
            </a:r>
            <a:endParaRPr lang="en-US" sz="1050"/>
          </a:p>
        </p:txBody>
      </p:sp>
      <p:sp>
        <p:nvSpPr>
          <p:cNvPr id="1816085607" name="Shape 12"/>
          <p:cNvSpPr/>
          <p:nvPr/>
        </p:nvSpPr>
        <p:spPr bwMode="auto">
          <a:xfrm>
            <a:off x="6172200" y="265176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453851904" name="Shape 13"/>
          <p:cNvSpPr/>
          <p:nvPr/>
        </p:nvSpPr>
        <p:spPr bwMode="auto">
          <a:xfrm>
            <a:off x="6336792" y="2852928"/>
            <a:ext cx="548640" cy="54864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4389674" name="Text 14"/>
          <p:cNvSpPr/>
          <p:nvPr/>
        </p:nvSpPr>
        <p:spPr bwMode="auto">
          <a:xfrm>
            <a:off x="6336792" y="29352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2</a:t>
            </a:r>
            <a:endParaRPr lang="en-US" sz="1500"/>
          </a:p>
        </p:txBody>
      </p:sp>
      <p:sp>
        <p:nvSpPr>
          <p:cNvPr id="149124306" name="Text 15"/>
          <p:cNvSpPr/>
          <p:nvPr/>
        </p:nvSpPr>
        <p:spPr bwMode="auto">
          <a:xfrm>
            <a:off x="7040880" y="2834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Streamlit</a:t>
            </a:r>
            <a:endParaRPr lang="en-US" sz="1500"/>
          </a:p>
        </p:txBody>
      </p:sp>
      <p:sp>
        <p:nvSpPr>
          <p:cNvPr id="1140775240" name="Text 16"/>
          <p:cNvSpPr/>
          <p:nvPr/>
        </p:nvSpPr>
        <p:spPr bwMode="auto">
          <a:xfrm>
            <a:off x="7040880" y="3136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Waits for a healthy database, then serves the dashboard on port 8501.</a:t>
            </a:r>
            <a:endParaRPr lang="en-US" sz="1050"/>
          </a:p>
        </p:txBody>
      </p:sp>
      <p:sp>
        <p:nvSpPr>
          <p:cNvPr id="46581826" name="Text 22"/>
          <p:cNvSpPr/>
          <p:nvPr/>
        </p:nvSpPr>
        <p:spPr bwMode="auto">
          <a:xfrm>
            <a:off x="6611112" y="39745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rgbClr val="008C8C"/>
                </a:solidFill>
              </a:rPr>
              <a:t>Open  http://localhost:8501</a:t>
            </a:r>
            <a:endParaRPr lang="en-US" sz="1900"/>
          </a:p>
        </p:txBody>
      </p:sp>
      <p:sp>
        <p:nvSpPr>
          <p:cNvPr id="29865493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245980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4</a:t>
            </a:r>
            <a:r>
              <a:rPr lang="es-ES" sz="2500" b="1">
                <a:solidFill>
                  <a:srgbClr val="14324A"/>
                </a:solidFill>
              </a:rPr>
              <a:t>. </a:t>
            </a:r>
            <a:r>
              <a:rPr lang="en-US" sz="2500" b="1">
                <a:solidFill>
                  <a:srgbClr val="14324A"/>
                </a:solidFill>
              </a:rPr>
              <a:t>Load reference data</a:t>
            </a:r>
            <a:endParaRPr lang="en-US" sz="2500"/>
          </a:p>
        </p:txBody>
      </p:sp>
      <p:sp>
        <p:nvSpPr>
          <p:cNvPr id="579171659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Runs depend on instruments and chemistry; sample metrics also depend on libraries</a:t>
            </a:r>
            <a:endParaRPr lang="en-US" sz="1150"/>
          </a:p>
        </p:txBody>
      </p:sp>
      <p:sp>
        <p:nvSpPr>
          <p:cNvPr id="1929722774" name="Shape 2"/>
          <p:cNvSpPr/>
          <p:nvPr/>
        </p:nvSpPr>
        <p:spPr bwMode="auto">
          <a:xfrm>
            <a:off x="731520" y="1371600"/>
            <a:ext cx="7132320" cy="896112"/>
          </a:xfrm>
          <a:prstGeom prst="roundRect">
            <a:avLst>
              <a:gd name="adj" fmla="val 4082"/>
            </a:avLst>
          </a:prstGeom>
          <a:solidFill>
            <a:srgbClr val="E8F1FA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218041121" name="Text 3"/>
          <p:cNvSpPr/>
          <p:nvPr/>
        </p:nvSpPr>
        <p:spPr bwMode="auto">
          <a:xfrm>
            <a:off x="96012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sequencing_instruments.csv</a:t>
            </a:r>
            <a:endParaRPr lang="en-US" sz="1200"/>
          </a:p>
        </p:txBody>
      </p:sp>
      <p:sp>
        <p:nvSpPr>
          <p:cNvPr id="1341268437" name="Text 4"/>
          <p:cNvSpPr/>
          <p:nvPr/>
        </p:nvSpPr>
        <p:spPr bwMode="auto">
          <a:xfrm>
            <a:off x="4297680" y="16687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→  instruments</a:t>
            </a:r>
            <a:endParaRPr lang="en-US" sz="1250"/>
          </a:p>
        </p:txBody>
      </p:sp>
      <p:sp>
        <p:nvSpPr>
          <p:cNvPr id="1903622162" name="Text 5"/>
          <p:cNvSpPr/>
          <p:nvPr/>
        </p:nvSpPr>
        <p:spPr bwMode="auto">
          <a:xfrm>
            <a:off x="960120" y="187452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D6B78"/>
                </a:solidFill>
              </a:rPr>
              <a:t>instrument_id · name · model · type · platform</a:t>
            </a:r>
            <a:endParaRPr lang="en-US" sz="950"/>
          </a:p>
        </p:txBody>
      </p:sp>
      <p:sp>
        <p:nvSpPr>
          <p:cNvPr id="271246585" name="Shape 6"/>
          <p:cNvSpPr/>
          <p:nvPr/>
        </p:nvSpPr>
        <p:spPr bwMode="auto">
          <a:xfrm>
            <a:off x="731520" y="2606040"/>
            <a:ext cx="7132320" cy="896112"/>
          </a:xfrm>
          <a:prstGeom prst="roundRect">
            <a:avLst>
              <a:gd name="adj" fmla="val 4082"/>
            </a:avLst>
          </a:prstGeom>
          <a:solidFill>
            <a:srgbClr val="DDF4F3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294745130" name="Text 7"/>
          <p:cNvSpPr/>
          <p:nvPr/>
        </p:nvSpPr>
        <p:spPr bwMode="auto">
          <a:xfrm>
            <a:off x="96012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sequencing_chemistr</a:t>
            </a:r>
            <a:r>
              <a:rPr lang="es-E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ies</a:t>
            </a:r>
            <a:r>
              <a:rPr lang="en-U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.csv</a:t>
            </a:r>
            <a:endParaRPr lang="en-US" sz="1200"/>
          </a:p>
        </p:txBody>
      </p:sp>
      <p:sp>
        <p:nvSpPr>
          <p:cNvPr id="273170099" name="Text 8"/>
          <p:cNvSpPr/>
          <p:nvPr/>
        </p:nvSpPr>
        <p:spPr bwMode="auto">
          <a:xfrm flipH="0" flipV="0">
            <a:off x="4346686" y="2939796"/>
            <a:ext cx="2377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→  sequencing_chemistry</a:t>
            </a:r>
            <a:endParaRPr lang="en-US" sz="1250"/>
          </a:p>
        </p:txBody>
      </p:sp>
      <p:sp>
        <p:nvSpPr>
          <p:cNvPr id="349492961" name="Text 9"/>
          <p:cNvSpPr/>
          <p:nvPr/>
        </p:nvSpPr>
        <p:spPr bwMode="auto">
          <a:xfrm>
            <a:off x="960120" y="310896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D6B78"/>
                </a:solidFill>
              </a:rPr>
              <a:t>chemistry_id · name · platform</a:t>
            </a:r>
            <a:endParaRPr lang="en-US" sz="950"/>
          </a:p>
        </p:txBody>
      </p:sp>
      <p:sp>
        <p:nvSpPr>
          <p:cNvPr id="262602520" name="Shape 10"/>
          <p:cNvSpPr/>
          <p:nvPr/>
        </p:nvSpPr>
        <p:spPr bwMode="auto">
          <a:xfrm>
            <a:off x="731520" y="3840480"/>
            <a:ext cx="7132320" cy="896112"/>
          </a:xfrm>
          <a:prstGeom prst="roundRect">
            <a:avLst>
              <a:gd name="adj" fmla="val 4082"/>
            </a:avLst>
          </a:prstGeom>
          <a:solidFill>
            <a:srgbClr val="E8F1FA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1809143937" name="Text 11"/>
          <p:cNvSpPr/>
          <p:nvPr/>
        </p:nvSpPr>
        <p:spPr bwMode="auto">
          <a:xfrm>
            <a:off x="960120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librar</a:t>
            </a:r>
            <a:r>
              <a:rPr lang="es-E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ies</a:t>
            </a:r>
            <a:r>
              <a:rPr lang="en-US" sz="1200" b="1">
                <a:solidFill>
                  <a:srgbClr val="14324A"/>
                </a:solidFill>
                <a:latin typeface="Courier New"/>
                <a:ea typeface="Courier New"/>
                <a:cs typeface="Courier New"/>
              </a:rPr>
              <a:t>.csv</a:t>
            </a:r>
            <a:endParaRPr lang="en-US" sz="1200"/>
          </a:p>
        </p:txBody>
      </p:sp>
      <p:sp>
        <p:nvSpPr>
          <p:cNvPr id="1980350798" name="Text 12"/>
          <p:cNvSpPr/>
          <p:nvPr/>
        </p:nvSpPr>
        <p:spPr bwMode="auto">
          <a:xfrm>
            <a:off x="429768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→  library</a:t>
            </a:r>
            <a:endParaRPr lang="en-US" sz="1250"/>
          </a:p>
        </p:txBody>
      </p:sp>
      <p:sp>
        <p:nvSpPr>
          <p:cNvPr id="532857533" name="Text 13"/>
          <p:cNvSpPr/>
          <p:nvPr/>
        </p:nvSpPr>
        <p:spPr bwMode="auto">
          <a:xfrm>
            <a:off x="960120" y="434340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D6B78"/>
                </a:solidFill>
              </a:rPr>
              <a:t>library_id · name · version · type</a:t>
            </a:r>
            <a:endParaRPr lang="en-US" sz="950"/>
          </a:p>
        </p:txBody>
      </p:sp>
      <p:sp>
        <p:nvSpPr>
          <p:cNvPr id="1255280074" name="Shape 14"/>
          <p:cNvSpPr/>
          <p:nvPr/>
        </p:nvSpPr>
        <p:spPr bwMode="auto">
          <a:xfrm>
            <a:off x="8275320" y="137160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1119123113" name="Text 15"/>
          <p:cNvSpPr/>
          <p:nvPr/>
        </p:nvSpPr>
        <p:spPr bwMode="auto">
          <a:xfrm>
            <a:off x="8458200" y="1508759"/>
            <a:ext cx="2880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# Place files in PROCESSED_DATA_DIR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load-reference</a:t>
            </a:r>
            <a:endParaRPr lang="en-US" sz="1150"/>
          </a:p>
        </p:txBody>
      </p:sp>
      <p:sp>
        <p:nvSpPr>
          <p:cNvPr id="1547762785" name="Shape 16"/>
          <p:cNvSpPr/>
          <p:nvPr/>
        </p:nvSpPr>
        <p:spPr bwMode="auto">
          <a:xfrm>
            <a:off x="8275320" y="2880360"/>
            <a:ext cx="3246120" cy="1234440"/>
          </a:xfrm>
          <a:prstGeom prst="roundRect">
            <a:avLst>
              <a:gd name="adj" fmla="val 3704"/>
            </a:avLst>
          </a:prstGeom>
          <a:solidFill>
            <a:srgbClr val="FCE8D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449331670" name="Text 17"/>
          <p:cNvSpPr/>
          <p:nvPr/>
        </p:nvSpPr>
        <p:spPr bwMode="auto">
          <a:xfrm>
            <a:off x="8458200" y="3017519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Check the logs</a:t>
            </a:r>
            <a:endParaRPr lang="en-US" sz="1250"/>
          </a:p>
        </p:txBody>
      </p:sp>
      <p:sp>
        <p:nvSpPr>
          <p:cNvPr id="1726048494" name="Text 18"/>
          <p:cNvSpPr/>
          <p:nvPr/>
        </p:nvSpPr>
        <p:spPr bwMode="auto">
          <a:xfrm>
            <a:off x="8458200" y="329184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Missing reference files are skipped with a warning. Inspect LOG_DIR/loader before continuing.</a:t>
            </a:r>
            <a:endParaRPr lang="en-US" sz="1050"/>
          </a:p>
        </p:txBody>
      </p:sp>
      <p:sp>
        <p:nvSpPr>
          <p:cNvPr id="1055862347" name="Shape 19"/>
          <p:cNvSpPr/>
          <p:nvPr/>
        </p:nvSpPr>
        <p:spPr bwMode="auto">
          <a:xfrm>
            <a:off x="8275320" y="4572000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E1F3E8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936279687" name="Text 20"/>
          <p:cNvSpPr/>
          <p:nvPr/>
        </p:nvSpPr>
        <p:spPr bwMode="auto">
          <a:xfrm>
            <a:off x="8458200" y="4709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Load order matters</a:t>
            </a:r>
            <a:endParaRPr lang="en-US" sz="1250"/>
          </a:p>
        </p:txBody>
      </p:sp>
      <p:sp>
        <p:nvSpPr>
          <p:cNvPr id="747333663" name="Text 21"/>
          <p:cNvSpPr/>
          <p:nvPr/>
        </p:nvSpPr>
        <p:spPr bwMode="auto">
          <a:xfrm>
            <a:off x="8458200" y="4983480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Platform seed data → reference data → runs → metrics → samples.</a:t>
            </a:r>
            <a:endParaRPr lang="en-US" sz="1050"/>
          </a:p>
        </p:txBody>
      </p:sp>
      <p:sp>
        <p:nvSpPr>
          <p:cNvPr id="153467399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43787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5</a:t>
            </a:r>
            <a:r>
              <a:rPr lang="es-ES" sz="2500" b="1">
                <a:solidFill>
                  <a:srgbClr val="14324A"/>
                </a:solidFill>
              </a:rPr>
              <a:t>.</a:t>
            </a:r>
            <a:r>
              <a:rPr lang="en-US" sz="2500" b="1">
                <a:solidFill>
                  <a:srgbClr val="14324A"/>
                </a:solidFill>
              </a:rPr>
              <a:t> Parse sequencing runs</a:t>
            </a:r>
            <a:endParaRPr lang="en-US" sz="2500"/>
          </a:p>
        </p:txBody>
      </p:sp>
      <p:sp>
        <p:nvSpPr>
          <p:cNvPr id="270257864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Choose the workflow that matches the instrument source</a:t>
            </a:r>
            <a:endParaRPr lang="en-US" sz="1150"/>
          </a:p>
        </p:txBody>
      </p:sp>
      <p:sp>
        <p:nvSpPr>
          <p:cNvPr id="894999907" name="Shape 2"/>
          <p:cNvSpPr/>
          <p:nvPr/>
        </p:nvSpPr>
        <p:spPr bwMode="auto">
          <a:xfrm>
            <a:off x="640080" y="128016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E8F1FA"/>
          </a:solidFill>
          <a:ln w="16510">
            <a:solidFill>
              <a:srgbClr val="3076B5"/>
            </a:solidFill>
            <a:prstDash val="solid"/>
          </a:ln>
        </p:spPr>
      </p:sp>
      <p:sp>
        <p:nvSpPr>
          <p:cNvPr id="443879979" name="Text 3"/>
          <p:cNvSpPr/>
          <p:nvPr/>
        </p:nvSpPr>
        <p:spPr bwMode="auto">
          <a:xfrm>
            <a:off x="9601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3076B5"/>
                </a:solidFill>
              </a:rPr>
              <a:t>ILLUMINA</a:t>
            </a:r>
            <a:endParaRPr lang="en-US" sz="2000"/>
          </a:p>
        </p:txBody>
      </p:sp>
      <p:sp>
        <p:nvSpPr>
          <p:cNvPr id="899415069" name="Text 4"/>
          <p:cNvSpPr/>
          <p:nvPr/>
        </p:nvSpPr>
        <p:spPr bwMode="auto">
          <a:xfrm>
            <a:off x="960120" y="20848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3313D"/>
                </a:solidFill>
              </a:rPr>
              <a:t>Place the run at: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23313D"/>
                </a:solidFill>
              </a:rPr>
              <a:t>ILLUMINA_RAW_DATA_DIR/RUN_ID</a:t>
            </a:r>
            <a:endParaRPr lang="en-US" sz="1300"/>
          </a:p>
        </p:txBody>
      </p:sp>
      <p:sp>
        <p:nvSpPr>
          <p:cNvPr id="11617957" name="Shape 5"/>
          <p:cNvSpPr/>
          <p:nvPr/>
        </p:nvSpPr>
        <p:spPr bwMode="auto">
          <a:xfrm>
            <a:off x="914400" y="2880360"/>
            <a:ext cx="4892039" cy="1005840"/>
          </a:xfrm>
          <a:prstGeom prst="roundRect">
            <a:avLst>
              <a:gd name="adj" fmla="val 4545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1281158875" name="Text 6"/>
          <p:cNvSpPr/>
          <p:nvPr/>
        </p:nvSpPr>
        <p:spPr bwMode="auto">
          <a:xfrm>
            <a:off x="1097280" y="3017519"/>
            <a:ext cx="4526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parse RUN_ID=RUN_ID \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  DESCRIPTION="Run description"</a:t>
            </a:r>
            <a:endParaRPr lang="en-US" sz="1150"/>
          </a:p>
        </p:txBody>
      </p:sp>
      <p:sp>
        <p:nvSpPr>
          <p:cNvPr id="452554313" name="Shape 7"/>
          <p:cNvSpPr/>
          <p:nvPr/>
        </p:nvSpPr>
        <p:spPr bwMode="auto">
          <a:xfrm>
            <a:off x="914400" y="4251960"/>
            <a:ext cx="4892039" cy="841248"/>
          </a:xfrm>
          <a:prstGeom prst="roundRect">
            <a:avLst>
              <a:gd name="adj" fmla="val 5435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1197623253" name="Text 8"/>
          <p:cNvSpPr/>
          <p:nvPr/>
        </p:nvSpPr>
        <p:spPr bwMode="auto">
          <a:xfrm>
            <a:off x="1097280" y="4389120"/>
            <a:ext cx="4526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# All Illumina folders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parse-all</a:t>
            </a:r>
            <a:endParaRPr lang="en-US" sz="1150"/>
          </a:p>
        </p:txBody>
      </p:sp>
      <p:sp>
        <p:nvSpPr>
          <p:cNvPr id="126886781" name="Shape 9"/>
          <p:cNvSpPr/>
          <p:nvPr/>
        </p:nvSpPr>
        <p:spPr bwMode="auto">
          <a:xfrm>
            <a:off x="6309360" y="128016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CE8D5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287060069" name="Text 10"/>
          <p:cNvSpPr/>
          <p:nvPr/>
        </p:nvSpPr>
        <p:spPr bwMode="auto">
          <a:xfrm>
            <a:off x="662940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C56A1A"/>
                </a:solidFill>
              </a:rPr>
              <a:t>THERMO FISHER</a:t>
            </a:r>
            <a:endParaRPr lang="en-US" sz="2000"/>
          </a:p>
        </p:txBody>
      </p:sp>
      <p:sp>
        <p:nvSpPr>
          <p:cNvPr id="2013405085" name="Text 11"/>
          <p:cNvSpPr/>
          <p:nvPr/>
        </p:nvSpPr>
        <p:spPr bwMode="auto">
          <a:xfrm>
            <a:off x="6629400" y="20848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3313D"/>
                </a:solidFill>
              </a:rPr>
              <a:t>Place S5 or Genexus JSON below: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23313D"/>
                </a:solidFill>
              </a:rPr>
              <a:t>THERMOFISHER_RAW_DATA_DIR</a:t>
            </a:r>
            <a:endParaRPr lang="en-US" sz="1300"/>
          </a:p>
        </p:txBody>
      </p:sp>
      <p:sp>
        <p:nvSpPr>
          <p:cNvPr id="779791871" name="Shape 12"/>
          <p:cNvSpPr/>
          <p:nvPr/>
        </p:nvSpPr>
        <p:spPr bwMode="auto">
          <a:xfrm>
            <a:off x="6583680" y="288036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56287633" name="Text 13"/>
          <p:cNvSpPr/>
          <p:nvPr/>
        </p:nvSpPr>
        <p:spPr bwMode="auto">
          <a:xfrm>
            <a:off x="6766560" y="3017519"/>
            <a:ext cx="4297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parse-thermofisher \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  JSON_FILE=serialized_run.json \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  MODEL=S5</a:t>
            </a:r>
            <a:endParaRPr lang="en-US" sz="1150"/>
          </a:p>
        </p:txBody>
      </p:sp>
      <p:sp>
        <p:nvSpPr>
          <p:cNvPr id="251783152" name="Shape 14"/>
          <p:cNvSpPr/>
          <p:nvPr/>
        </p:nvSpPr>
        <p:spPr bwMode="auto">
          <a:xfrm>
            <a:off x="6583680" y="4480560"/>
            <a:ext cx="4663440" cy="841248"/>
          </a:xfrm>
          <a:prstGeom prst="roundRect">
            <a:avLst>
              <a:gd name="adj" fmla="val 5435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835680827" name="Text 15"/>
          <p:cNvSpPr/>
          <p:nvPr/>
        </p:nvSpPr>
        <p:spPr bwMode="auto">
          <a:xfrm>
            <a:off x="6766560" y="4617720"/>
            <a:ext cx="4297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# All supported exports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parse-thermofisher-all MODEL=AUTO</a:t>
            </a:r>
            <a:endParaRPr lang="en-US" sz="1150"/>
          </a:p>
        </p:txBody>
      </p:sp>
      <p:sp>
        <p:nvSpPr>
          <p:cNvPr id="104939027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639632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6</a:t>
            </a:r>
            <a:r>
              <a:rPr lang="es-ES" sz="2500" b="1">
                <a:solidFill>
                  <a:srgbClr val="14324A"/>
                </a:solidFill>
              </a:rPr>
              <a:t>.</a:t>
            </a:r>
            <a:r>
              <a:rPr lang="en-US" sz="2500" b="1">
                <a:solidFill>
                  <a:srgbClr val="14324A"/>
                </a:solidFill>
              </a:rPr>
              <a:t> Load runs and optional sample QC</a:t>
            </a:r>
            <a:endParaRPr lang="en-US" sz="2500"/>
          </a:p>
        </p:txBody>
      </p:sp>
      <p:sp>
        <p:nvSpPr>
          <p:cNvPr id="1840594479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Run-level loading is simple; sample-level metrics require metadata and library enrichment</a:t>
            </a:r>
            <a:endParaRPr lang="en-US" sz="1150"/>
          </a:p>
        </p:txBody>
      </p:sp>
      <p:sp>
        <p:nvSpPr>
          <p:cNvPr id="1753317165" name="Text 2"/>
          <p:cNvSpPr/>
          <p:nvPr/>
        </p:nvSpPr>
        <p:spPr bwMode="auto">
          <a:xfrm>
            <a:off x="73152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3076B5"/>
                </a:solidFill>
              </a:rPr>
              <a:t>Run-level</a:t>
            </a:r>
            <a:endParaRPr lang="en-US" sz="2000"/>
          </a:p>
        </p:txBody>
      </p:sp>
      <p:sp>
        <p:nvSpPr>
          <p:cNvPr id="487008630" name="Shape 3"/>
          <p:cNvSpPr/>
          <p:nvPr/>
        </p:nvSpPr>
        <p:spPr bwMode="auto">
          <a:xfrm>
            <a:off x="731520" y="1755648"/>
            <a:ext cx="4572000" cy="1508759"/>
          </a:xfrm>
          <a:prstGeom prst="roundRect">
            <a:avLst>
              <a:gd name="adj" fmla="val 3030"/>
            </a:avLst>
          </a:prstGeom>
          <a:solidFill>
            <a:srgbClr val="17232D"/>
          </a:solidFill>
          <a:ln w="12700">
            <a:solidFill>
              <a:srgbClr val="17232D"/>
            </a:solidFill>
            <a:prstDash val="solid"/>
          </a:ln>
        </p:spPr>
      </p:sp>
      <p:sp>
        <p:nvSpPr>
          <p:cNvPr id="1517357217" name="Text 4"/>
          <p:cNvSpPr/>
          <p:nvPr/>
        </p:nvSpPr>
        <p:spPr bwMode="auto">
          <a:xfrm>
            <a:off x="914400" y="1892808"/>
            <a:ext cx="4206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load RUN_ID=RUN_ID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# Or every parsed run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EAF3F5"/>
                </a:solidFill>
                <a:latin typeface="Courier New"/>
                <a:ea typeface="Courier New"/>
                <a:cs typeface="Courier New"/>
              </a:rPr>
              <a:t>make load-all</a:t>
            </a:r>
            <a:endParaRPr lang="en-US" sz="1150"/>
          </a:p>
        </p:txBody>
      </p:sp>
      <p:sp>
        <p:nvSpPr>
          <p:cNvPr id="2107908963" name="Shape 5"/>
          <p:cNvSpPr/>
          <p:nvPr/>
        </p:nvSpPr>
        <p:spPr bwMode="auto">
          <a:xfrm>
            <a:off x="731520" y="3749040"/>
            <a:ext cx="4572000" cy="1188720"/>
          </a:xfrm>
          <a:prstGeom prst="roundRect">
            <a:avLst>
              <a:gd name="adj" fmla="val 3846"/>
            </a:avLst>
          </a:prstGeom>
          <a:solidFill>
            <a:srgbClr val="E8F1FA"/>
          </a:solidFill>
          <a:ln w="15240">
            <a:solidFill>
              <a:srgbClr val="3076B5"/>
            </a:solidFill>
            <a:prstDash val="solid"/>
          </a:ln>
        </p:spPr>
      </p:sp>
      <p:sp>
        <p:nvSpPr>
          <p:cNvPr id="1525010472" name="Text 6"/>
          <p:cNvSpPr/>
          <p:nvPr/>
        </p:nvSpPr>
        <p:spPr bwMode="auto">
          <a:xfrm>
            <a:off x="914400" y="3886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Loader behavior</a:t>
            </a:r>
            <a:endParaRPr lang="en-US" sz="1250"/>
          </a:p>
        </p:txBody>
      </p:sp>
      <p:sp>
        <p:nvSpPr>
          <p:cNvPr id="136607724" name="Text 7"/>
          <p:cNvSpPr/>
          <p:nvPr/>
        </p:nvSpPr>
        <p:spPr bwMode="auto">
          <a:xfrm>
            <a:off x="914400" y="4160519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Validates required columns and skips existing primary keys. It does not update conflicting rows.</a:t>
            </a:r>
            <a:endParaRPr lang="en-US" sz="1050"/>
          </a:p>
        </p:txBody>
      </p:sp>
      <p:sp>
        <p:nvSpPr>
          <p:cNvPr id="562920935" name="Text 8"/>
          <p:cNvSpPr/>
          <p:nvPr/>
        </p:nvSpPr>
        <p:spPr bwMode="auto">
          <a:xfrm>
            <a:off x="580644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8C8C"/>
                </a:solidFill>
              </a:rPr>
              <a:t>Optional sample-level workflow</a:t>
            </a:r>
            <a:endParaRPr lang="en-US" sz="2000"/>
          </a:p>
        </p:txBody>
      </p:sp>
      <p:sp>
        <p:nvSpPr>
          <p:cNvPr id="2048958902" name="Shape 9"/>
          <p:cNvSpPr/>
          <p:nvPr/>
        </p:nvSpPr>
        <p:spPr bwMode="auto">
          <a:xfrm>
            <a:off x="5806440" y="17830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2057480902" name="Shape 10"/>
          <p:cNvSpPr/>
          <p:nvPr/>
        </p:nvSpPr>
        <p:spPr bwMode="auto">
          <a:xfrm>
            <a:off x="5971032" y="1984248"/>
            <a:ext cx="548640" cy="54864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486203236" name="Text 11"/>
          <p:cNvSpPr/>
          <p:nvPr/>
        </p:nvSpPr>
        <p:spPr bwMode="auto">
          <a:xfrm>
            <a:off x="5971032" y="2066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1</a:t>
            </a:r>
            <a:endParaRPr lang="en-US" sz="1500"/>
          </a:p>
        </p:txBody>
      </p:sp>
      <p:sp>
        <p:nvSpPr>
          <p:cNvPr id="35232276" name="Text 12"/>
          <p:cNvSpPr/>
          <p:nvPr/>
        </p:nvSpPr>
        <p:spPr bwMode="auto">
          <a:xfrm>
            <a:off x="6675120" y="19659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Parse metadata</a:t>
            </a:r>
            <a:endParaRPr lang="en-US" sz="1500"/>
          </a:p>
        </p:txBody>
      </p:sp>
      <p:sp>
        <p:nvSpPr>
          <p:cNvPr id="1496943589" name="Text 13"/>
          <p:cNvSpPr/>
          <p:nvPr/>
        </p:nvSpPr>
        <p:spPr bwMode="auto">
          <a:xfrm>
            <a:off x="6675120" y="22677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parse-sample-metadata-all</a:t>
            </a:r>
            <a:endParaRPr lang="en-US" sz="1050"/>
          </a:p>
        </p:txBody>
      </p:sp>
      <p:sp>
        <p:nvSpPr>
          <p:cNvPr id="1311888185" name="Shape 14"/>
          <p:cNvSpPr/>
          <p:nvPr/>
        </p:nvSpPr>
        <p:spPr bwMode="auto">
          <a:xfrm>
            <a:off x="5806440" y="29260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177030180" name="Shape 15"/>
          <p:cNvSpPr/>
          <p:nvPr/>
        </p:nvSpPr>
        <p:spPr bwMode="auto">
          <a:xfrm>
            <a:off x="5971032" y="3127248"/>
            <a:ext cx="548640" cy="54864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203353285" name="Text 16"/>
          <p:cNvSpPr/>
          <p:nvPr/>
        </p:nvSpPr>
        <p:spPr bwMode="auto">
          <a:xfrm>
            <a:off x="5971032" y="3209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2</a:t>
            </a:r>
            <a:endParaRPr lang="en-US" sz="1500"/>
          </a:p>
        </p:txBody>
      </p:sp>
      <p:sp>
        <p:nvSpPr>
          <p:cNvPr id="677540533" name="Text 17"/>
          <p:cNvSpPr/>
          <p:nvPr/>
        </p:nvSpPr>
        <p:spPr bwMode="auto">
          <a:xfrm>
            <a:off x="6675120" y="31089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Parse MultiQC</a:t>
            </a:r>
            <a:endParaRPr lang="en-US" sz="1500"/>
          </a:p>
        </p:txBody>
      </p:sp>
      <p:sp>
        <p:nvSpPr>
          <p:cNvPr id="123643646" name="Text 18"/>
          <p:cNvSpPr/>
          <p:nvPr/>
        </p:nvSpPr>
        <p:spPr bwMode="auto">
          <a:xfrm>
            <a:off x="6675120" y="34107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parse-multiqc-all</a:t>
            </a:r>
            <a:endParaRPr lang="en-US" sz="1050"/>
          </a:p>
        </p:txBody>
      </p:sp>
      <p:sp>
        <p:nvSpPr>
          <p:cNvPr id="1435932861" name="Shape 19"/>
          <p:cNvSpPr/>
          <p:nvPr/>
        </p:nvSpPr>
        <p:spPr bwMode="auto">
          <a:xfrm>
            <a:off x="5806440" y="40690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96037770" name="Shape 20"/>
          <p:cNvSpPr/>
          <p:nvPr/>
        </p:nvSpPr>
        <p:spPr bwMode="auto">
          <a:xfrm>
            <a:off x="5971032" y="4270248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63577456" name="Text 21"/>
          <p:cNvSpPr/>
          <p:nvPr/>
        </p:nvSpPr>
        <p:spPr bwMode="auto">
          <a:xfrm>
            <a:off x="5971032" y="4352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3</a:t>
            </a:r>
            <a:endParaRPr lang="en-US" sz="1500"/>
          </a:p>
        </p:txBody>
      </p:sp>
      <p:sp>
        <p:nvSpPr>
          <p:cNvPr id="1681824394" name="Text 22"/>
          <p:cNvSpPr/>
          <p:nvPr/>
        </p:nvSpPr>
        <p:spPr bwMode="auto">
          <a:xfrm>
            <a:off x="6675120" y="42519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Add libraries</a:t>
            </a:r>
            <a:endParaRPr lang="en-US" sz="1500"/>
          </a:p>
        </p:txBody>
      </p:sp>
      <p:sp>
        <p:nvSpPr>
          <p:cNvPr id="366250488" name="Text 23"/>
          <p:cNvSpPr/>
          <p:nvPr/>
        </p:nvSpPr>
        <p:spPr bwMode="auto">
          <a:xfrm>
            <a:off x="6675120" y="45537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add-sample-qc-libraries</a:t>
            </a:r>
            <a:endParaRPr lang="en-US" sz="1050"/>
          </a:p>
        </p:txBody>
      </p:sp>
      <p:sp>
        <p:nvSpPr>
          <p:cNvPr id="1016446079" name="Shape 24"/>
          <p:cNvSpPr/>
          <p:nvPr/>
        </p:nvSpPr>
        <p:spPr bwMode="auto">
          <a:xfrm>
            <a:off x="5806440" y="52120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874704240" name="Shape 25"/>
          <p:cNvSpPr/>
          <p:nvPr/>
        </p:nvSpPr>
        <p:spPr bwMode="auto">
          <a:xfrm>
            <a:off x="5971032" y="541324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59957781" name="Text 26"/>
          <p:cNvSpPr/>
          <p:nvPr/>
        </p:nvSpPr>
        <p:spPr bwMode="auto">
          <a:xfrm>
            <a:off x="5971032" y="5495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4</a:t>
            </a:r>
            <a:endParaRPr lang="en-US" sz="1500"/>
          </a:p>
        </p:txBody>
      </p:sp>
      <p:sp>
        <p:nvSpPr>
          <p:cNvPr id="1816541776" name="Text 27"/>
          <p:cNvSpPr/>
          <p:nvPr/>
        </p:nvSpPr>
        <p:spPr bwMode="auto">
          <a:xfrm>
            <a:off x="6675120" y="53949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Load samples</a:t>
            </a:r>
            <a:endParaRPr lang="en-US" sz="1500"/>
          </a:p>
        </p:txBody>
      </p:sp>
      <p:sp>
        <p:nvSpPr>
          <p:cNvPr id="944340282" name="Text 28"/>
          <p:cNvSpPr/>
          <p:nvPr/>
        </p:nvSpPr>
        <p:spPr bwMode="auto">
          <a:xfrm>
            <a:off x="6675120" y="56967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load-sample-data</a:t>
            </a:r>
            <a:endParaRPr lang="en-US" sz="1050"/>
          </a:p>
        </p:txBody>
      </p:sp>
      <p:sp>
        <p:nvSpPr>
          <p:cNvPr id="21915482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025759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7 · Explore QC in the dashboard</a:t>
            </a:r>
            <a:endParaRPr lang="en-US" sz="2500"/>
          </a:p>
        </p:txBody>
      </p:sp>
      <p:sp>
        <p:nvSpPr>
          <p:cNvPr id="180502411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Use the dashboard for descriptive monitoring—not as a substitute for laboratory validation</a:t>
            </a:r>
            <a:endParaRPr lang="en-US" sz="1150"/>
          </a:p>
        </p:txBody>
      </p:sp>
      <p:sp>
        <p:nvSpPr>
          <p:cNvPr id="280790979" name="Shape 2"/>
          <p:cNvSpPr/>
          <p:nvPr/>
        </p:nvSpPr>
        <p:spPr bwMode="auto">
          <a:xfrm>
            <a:off x="685800" y="1353312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209249748" name="Text 3"/>
          <p:cNvSpPr/>
          <p:nvPr/>
        </p:nvSpPr>
        <p:spPr bwMode="auto">
          <a:xfrm>
            <a:off x="914400" y="150875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Summary</a:t>
            </a:r>
            <a:endParaRPr lang="en-US" sz="1500"/>
          </a:p>
        </p:txBody>
      </p:sp>
      <p:sp>
        <p:nvSpPr>
          <p:cNvPr id="495380029" name="Text 4"/>
          <p:cNvSpPr/>
          <p:nvPr/>
        </p:nvSpPr>
        <p:spPr bwMode="auto">
          <a:xfrm>
            <a:off x="2258568" y="1499616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Counts, protocol mix, instruments and registration trends</a:t>
            </a:r>
            <a:endParaRPr lang="en-US" sz="1050"/>
          </a:p>
        </p:txBody>
      </p:sp>
      <p:sp>
        <p:nvSpPr>
          <p:cNvPr id="1108557221" name="Shape 5"/>
          <p:cNvSpPr/>
          <p:nvPr/>
        </p:nvSpPr>
        <p:spPr bwMode="auto">
          <a:xfrm>
            <a:off x="6309360" y="1353312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DDF4F3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301887641" name="Text 6"/>
          <p:cNvSpPr/>
          <p:nvPr/>
        </p:nvSpPr>
        <p:spPr bwMode="auto">
          <a:xfrm>
            <a:off x="6537960" y="150875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Protocols</a:t>
            </a:r>
            <a:endParaRPr lang="en-US" sz="1500"/>
          </a:p>
        </p:txBody>
      </p:sp>
      <p:sp>
        <p:nvSpPr>
          <p:cNvPr id="2024609811" name="Text 7"/>
          <p:cNvSpPr/>
          <p:nvPr/>
        </p:nvSpPr>
        <p:spPr bwMode="auto">
          <a:xfrm>
            <a:off x="7882128" y="1499616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Compare runs grouped by protocol description</a:t>
            </a:r>
            <a:endParaRPr lang="en-US" sz="1050"/>
          </a:p>
        </p:txBody>
      </p:sp>
      <p:sp>
        <p:nvSpPr>
          <p:cNvPr id="252045244" name="Shape 8"/>
          <p:cNvSpPr/>
          <p:nvPr/>
        </p:nvSpPr>
        <p:spPr bwMode="auto">
          <a:xfrm>
            <a:off x="685800" y="265176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755262723" name="Text 9"/>
          <p:cNvSpPr/>
          <p:nvPr/>
        </p:nvSpPr>
        <p:spPr bwMode="auto">
          <a:xfrm>
            <a:off x="91440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Runs</a:t>
            </a:r>
            <a:endParaRPr lang="en-US" sz="1500"/>
          </a:p>
        </p:txBody>
      </p:sp>
      <p:sp>
        <p:nvSpPr>
          <p:cNvPr id="1246667125" name="Text 10"/>
          <p:cNvSpPr/>
          <p:nvPr/>
        </p:nvSpPr>
        <p:spPr bwMode="auto">
          <a:xfrm>
            <a:off x="2258568" y="2798064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Inspect run metadata and sequencing metrics</a:t>
            </a:r>
            <a:endParaRPr lang="en-US" sz="1050"/>
          </a:p>
        </p:txBody>
      </p:sp>
      <p:sp>
        <p:nvSpPr>
          <p:cNvPr id="1385934468" name="Shape 11"/>
          <p:cNvSpPr/>
          <p:nvPr/>
        </p:nvSpPr>
        <p:spPr bwMode="auto">
          <a:xfrm>
            <a:off x="6309360" y="265176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DDF4F3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17061273" name="Text 12"/>
          <p:cNvSpPr/>
          <p:nvPr/>
        </p:nvSpPr>
        <p:spPr bwMode="auto">
          <a:xfrm>
            <a:off x="653796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Samples</a:t>
            </a:r>
            <a:endParaRPr lang="en-US" sz="1500"/>
          </a:p>
        </p:txBody>
      </p:sp>
      <p:sp>
        <p:nvSpPr>
          <p:cNvPr id="1937964718" name="Text 13"/>
          <p:cNvSpPr/>
          <p:nvPr/>
        </p:nvSpPr>
        <p:spPr bwMode="auto">
          <a:xfrm>
            <a:off x="7882128" y="2798064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Review sample metrics across runs</a:t>
            </a:r>
            <a:endParaRPr lang="en-US" sz="1050"/>
          </a:p>
        </p:txBody>
      </p:sp>
      <p:sp>
        <p:nvSpPr>
          <p:cNvPr id="1860539369" name="Shape 14"/>
          <p:cNvSpPr/>
          <p:nvPr/>
        </p:nvSpPr>
        <p:spPr bwMode="auto">
          <a:xfrm>
            <a:off x="685800" y="395020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101723751" name="Text 15"/>
          <p:cNvSpPr/>
          <p:nvPr/>
        </p:nvSpPr>
        <p:spPr bwMode="auto">
          <a:xfrm>
            <a:off x="914400" y="4105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Libraries</a:t>
            </a:r>
            <a:endParaRPr lang="en-US" sz="1500"/>
          </a:p>
        </p:txBody>
      </p:sp>
      <p:sp>
        <p:nvSpPr>
          <p:cNvPr id="372591188" name="Text 16"/>
          <p:cNvSpPr/>
          <p:nvPr/>
        </p:nvSpPr>
        <p:spPr bwMode="auto">
          <a:xfrm>
            <a:off x="2258568" y="4096512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Explore distributions by library</a:t>
            </a:r>
            <a:endParaRPr lang="en-US" sz="1050"/>
          </a:p>
        </p:txBody>
      </p:sp>
      <p:sp>
        <p:nvSpPr>
          <p:cNvPr id="718002191" name="Shape 17"/>
          <p:cNvSpPr/>
          <p:nvPr/>
        </p:nvSpPr>
        <p:spPr bwMode="auto">
          <a:xfrm>
            <a:off x="6309360" y="395020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DDF4F3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706762763" name="Text 18"/>
          <p:cNvSpPr/>
          <p:nvPr/>
        </p:nvSpPr>
        <p:spPr bwMode="auto">
          <a:xfrm>
            <a:off x="6537960" y="4105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4324A"/>
                </a:solidFill>
              </a:rPr>
              <a:t>Lab Data</a:t>
            </a:r>
            <a:endParaRPr lang="en-US" sz="1500"/>
          </a:p>
        </p:txBody>
      </p:sp>
      <p:sp>
        <p:nvSpPr>
          <p:cNvPr id="660580515" name="Text 19"/>
          <p:cNvSpPr/>
          <p:nvPr/>
        </p:nvSpPr>
        <p:spPr bwMode="auto">
          <a:xfrm>
            <a:off x="7882128" y="4096512"/>
            <a:ext cx="3310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Inspect instruments, chemistry, libraries and metric definitions</a:t>
            </a:r>
            <a:endParaRPr lang="en-US" sz="1050"/>
          </a:p>
        </p:txBody>
      </p:sp>
      <p:sp>
        <p:nvSpPr>
          <p:cNvPr id="1011003399" name="Shape 20"/>
          <p:cNvSpPr/>
          <p:nvPr/>
        </p:nvSpPr>
        <p:spPr bwMode="auto">
          <a:xfrm>
            <a:off x="1325880" y="5285232"/>
            <a:ext cx="9509760" cy="777240"/>
          </a:xfrm>
          <a:prstGeom prst="roundRect">
            <a:avLst>
              <a:gd name="adj" fmla="val 5882"/>
            </a:avLst>
          </a:prstGeom>
          <a:solidFill>
            <a:srgbClr val="F9E3E3"/>
          </a:solidFill>
          <a:ln w="15240">
            <a:solidFill>
              <a:srgbClr val="C64B4B"/>
            </a:solidFill>
            <a:prstDash val="solid"/>
          </a:ln>
        </p:spPr>
      </p:sp>
      <p:sp>
        <p:nvSpPr>
          <p:cNvPr id="1680641963" name="Text 21"/>
          <p:cNvSpPr/>
          <p:nvPr/>
        </p:nvSpPr>
        <p:spPr bwMode="auto">
          <a:xfrm>
            <a:off x="1508759" y="54223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Interpretation boundary</a:t>
            </a:r>
            <a:endParaRPr lang="en-US" sz="1250"/>
          </a:p>
        </p:txBody>
      </p:sp>
      <p:sp>
        <p:nvSpPr>
          <p:cNvPr id="2030481048" name="Text 22"/>
          <p:cNvSpPr/>
          <p:nvPr/>
        </p:nvSpPr>
        <p:spPr bwMode="auto">
          <a:xfrm>
            <a:off x="1508759" y="5696712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IlluQC does not define universal pass/fail thresholds. Validate parser units and acceptance criteria locally.</a:t>
            </a:r>
            <a:endParaRPr lang="en-US" sz="1050"/>
          </a:p>
        </p:txBody>
      </p:sp>
      <p:sp>
        <p:nvSpPr>
          <p:cNvPr id="149582291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348179" name="Text 0"/>
          <p:cNvSpPr/>
          <p:nvPr/>
        </p:nvSpPr>
        <p:spPr bwMode="auto">
          <a:xfrm>
            <a:off x="566928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4324A"/>
                </a:solidFill>
              </a:rPr>
              <a:t>8 · Operate safely</a:t>
            </a:r>
            <a:endParaRPr lang="en-US" sz="2500"/>
          </a:p>
        </p:txBody>
      </p:sp>
      <p:sp>
        <p:nvSpPr>
          <p:cNvPr id="1971153795" name="Text 1"/>
          <p:cNvSpPr/>
          <p:nvPr/>
        </p:nvSpPr>
        <p:spPr bwMode="auto">
          <a:xfrm>
            <a:off x="585216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D6B78"/>
                </a:solidFill>
              </a:rPr>
              <a:t>Finish each workflow with logs, health checks and a recoverable backup</a:t>
            </a:r>
            <a:endParaRPr lang="en-US" sz="1150"/>
          </a:p>
        </p:txBody>
      </p:sp>
      <p:sp>
        <p:nvSpPr>
          <p:cNvPr id="402741828" name="Shape 2"/>
          <p:cNvSpPr/>
          <p:nvPr/>
        </p:nvSpPr>
        <p:spPr bwMode="auto">
          <a:xfrm>
            <a:off x="685800" y="13258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565546902" name="Shape 3"/>
          <p:cNvSpPr/>
          <p:nvPr/>
        </p:nvSpPr>
        <p:spPr bwMode="auto">
          <a:xfrm>
            <a:off x="850392" y="1527048"/>
            <a:ext cx="548640" cy="548640"/>
          </a:xfrm>
          <a:prstGeom prst="ellipse">
            <a:avLst/>
          </a:prstGeom>
          <a:solidFill>
            <a:srgbClr val="3076B5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1883571278" name="Text 4"/>
          <p:cNvSpPr/>
          <p:nvPr/>
        </p:nvSpPr>
        <p:spPr bwMode="auto">
          <a:xfrm>
            <a:off x="850392" y="1609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1</a:t>
            </a:r>
            <a:endParaRPr lang="en-US" sz="1500"/>
          </a:p>
        </p:txBody>
      </p:sp>
      <p:sp>
        <p:nvSpPr>
          <p:cNvPr id="2004782359" name="Text 5"/>
          <p:cNvSpPr/>
          <p:nvPr/>
        </p:nvSpPr>
        <p:spPr bwMode="auto">
          <a:xfrm>
            <a:off x="1554480" y="1508759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Check status</a:t>
            </a:r>
            <a:endParaRPr lang="en-US" sz="1500"/>
          </a:p>
        </p:txBody>
      </p:sp>
      <p:sp>
        <p:nvSpPr>
          <p:cNvPr id="384641160" name="Text 6"/>
          <p:cNvSpPr/>
          <p:nvPr/>
        </p:nvSpPr>
        <p:spPr bwMode="auto">
          <a:xfrm>
            <a:off x="15544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./scripts/compose.sh ps</a:t>
            </a:r>
            <a:endParaRPr lang="en-US" sz="1050"/>
          </a:p>
        </p:txBody>
      </p:sp>
      <p:sp>
        <p:nvSpPr>
          <p:cNvPr id="1298842897" name="Shape 7"/>
          <p:cNvSpPr/>
          <p:nvPr/>
        </p:nvSpPr>
        <p:spPr bwMode="auto">
          <a:xfrm>
            <a:off x="6309360" y="13258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961757306" name="Shape 8"/>
          <p:cNvSpPr/>
          <p:nvPr/>
        </p:nvSpPr>
        <p:spPr bwMode="auto">
          <a:xfrm>
            <a:off x="6473952" y="1527048"/>
            <a:ext cx="548640" cy="548640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305392057" name="Text 9"/>
          <p:cNvSpPr/>
          <p:nvPr/>
        </p:nvSpPr>
        <p:spPr bwMode="auto">
          <a:xfrm>
            <a:off x="6473952" y="1609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2</a:t>
            </a:r>
            <a:endParaRPr lang="en-US" sz="1500"/>
          </a:p>
        </p:txBody>
      </p:sp>
      <p:sp>
        <p:nvSpPr>
          <p:cNvPr id="480532418" name="Text 10"/>
          <p:cNvSpPr/>
          <p:nvPr/>
        </p:nvSpPr>
        <p:spPr bwMode="auto">
          <a:xfrm>
            <a:off x="7178039" y="1508759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Review logs</a:t>
            </a:r>
            <a:endParaRPr lang="en-US" sz="1500"/>
          </a:p>
        </p:txBody>
      </p:sp>
      <p:sp>
        <p:nvSpPr>
          <p:cNvPr id="2066975492" name="Text 11"/>
          <p:cNvSpPr/>
          <p:nvPr/>
        </p:nvSpPr>
        <p:spPr bwMode="auto">
          <a:xfrm>
            <a:off x="7178039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logs · LOG_DIR/parser · LOG_DIR/loader</a:t>
            </a:r>
            <a:endParaRPr lang="en-US" sz="1050"/>
          </a:p>
        </p:txBody>
      </p:sp>
      <p:sp>
        <p:nvSpPr>
          <p:cNvPr id="1414480461" name="Shape 12"/>
          <p:cNvSpPr/>
          <p:nvPr/>
        </p:nvSpPr>
        <p:spPr bwMode="auto">
          <a:xfrm>
            <a:off x="685800" y="2697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374146715" name="Shape 13"/>
          <p:cNvSpPr/>
          <p:nvPr/>
        </p:nvSpPr>
        <p:spPr bwMode="auto">
          <a:xfrm>
            <a:off x="850392" y="289864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3059072" name="Text 14"/>
          <p:cNvSpPr/>
          <p:nvPr/>
        </p:nvSpPr>
        <p:spPr bwMode="auto">
          <a:xfrm>
            <a:off x="850392" y="29809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3</a:t>
            </a:r>
            <a:endParaRPr lang="en-US" sz="1500"/>
          </a:p>
        </p:txBody>
      </p:sp>
      <p:sp>
        <p:nvSpPr>
          <p:cNvPr id="90710975" name="Text 15"/>
          <p:cNvSpPr/>
          <p:nvPr/>
        </p:nvSpPr>
        <p:spPr bwMode="auto">
          <a:xfrm>
            <a:off x="155448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Create backup</a:t>
            </a:r>
            <a:endParaRPr lang="en-US" sz="1500"/>
          </a:p>
        </p:txBody>
      </p:sp>
      <p:sp>
        <p:nvSpPr>
          <p:cNvPr id="1409097913" name="Text 16"/>
          <p:cNvSpPr/>
          <p:nvPr/>
        </p:nvSpPr>
        <p:spPr bwMode="auto">
          <a:xfrm>
            <a:off x="1554480" y="3182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backup</a:t>
            </a:r>
            <a:endParaRPr lang="en-US" sz="1050"/>
          </a:p>
        </p:txBody>
      </p:sp>
      <p:sp>
        <p:nvSpPr>
          <p:cNvPr id="1589292210" name="Shape 17"/>
          <p:cNvSpPr/>
          <p:nvPr/>
        </p:nvSpPr>
        <p:spPr bwMode="auto">
          <a:xfrm>
            <a:off x="6309360" y="2697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998754514" name="Shape 18"/>
          <p:cNvSpPr/>
          <p:nvPr/>
        </p:nvSpPr>
        <p:spPr bwMode="auto">
          <a:xfrm>
            <a:off x="6473952" y="2898648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47742635" name="Text 19"/>
          <p:cNvSpPr/>
          <p:nvPr/>
        </p:nvSpPr>
        <p:spPr bwMode="auto">
          <a:xfrm>
            <a:off x="6473952" y="29809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4</a:t>
            </a:r>
            <a:endParaRPr lang="en-US" sz="1500"/>
          </a:p>
        </p:txBody>
      </p:sp>
      <p:sp>
        <p:nvSpPr>
          <p:cNvPr id="1200314511" name="Text 20"/>
          <p:cNvSpPr/>
          <p:nvPr/>
        </p:nvSpPr>
        <p:spPr bwMode="auto">
          <a:xfrm>
            <a:off x="7178039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Test recovery</a:t>
            </a:r>
            <a:endParaRPr lang="en-US" sz="1500"/>
          </a:p>
        </p:txBody>
      </p:sp>
      <p:sp>
        <p:nvSpPr>
          <p:cNvPr id="1722586049" name="Text 21"/>
          <p:cNvSpPr/>
          <p:nvPr/>
        </p:nvSpPr>
        <p:spPr bwMode="auto">
          <a:xfrm>
            <a:off x="7178039" y="3182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Periodically restore into an isolated database and verify row counts.</a:t>
            </a:r>
            <a:endParaRPr lang="en-US" sz="1050"/>
          </a:p>
        </p:txBody>
      </p:sp>
      <p:sp>
        <p:nvSpPr>
          <p:cNvPr id="563358100" name="Shape 22"/>
          <p:cNvSpPr/>
          <p:nvPr/>
        </p:nvSpPr>
        <p:spPr bwMode="auto">
          <a:xfrm>
            <a:off x="685800" y="40690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115701447" name="Shape 23"/>
          <p:cNvSpPr/>
          <p:nvPr/>
        </p:nvSpPr>
        <p:spPr bwMode="auto">
          <a:xfrm>
            <a:off x="850392" y="4270248"/>
            <a:ext cx="548640" cy="548640"/>
          </a:xfrm>
          <a:prstGeom prst="ellipse">
            <a:avLst/>
          </a:prstGeom>
          <a:solidFill>
            <a:srgbClr val="3076B5"/>
          </a:solidFill>
          <a:ln w="12700">
            <a:solidFill>
              <a:srgbClr val="3076B5"/>
            </a:solidFill>
            <a:prstDash val="solid"/>
          </a:ln>
        </p:spPr>
      </p:sp>
      <p:sp>
        <p:nvSpPr>
          <p:cNvPr id="919866352" name="Text 24"/>
          <p:cNvSpPr/>
          <p:nvPr/>
        </p:nvSpPr>
        <p:spPr bwMode="auto">
          <a:xfrm>
            <a:off x="850392" y="4352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5</a:t>
            </a:r>
            <a:endParaRPr lang="en-US" sz="1500"/>
          </a:p>
        </p:txBody>
      </p:sp>
      <p:sp>
        <p:nvSpPr>
          <p:cNvPr id="573792140" name="Text 25"/>
          <p:cNvSpPr/>
          <p:nvPr/>
        </p:nvSpPr>
        <p:spPr bwMode="auto">
          <a:xfrm>
            <a:off x="155448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Stop safely</a:t>
            </a:r>
            <a:endParaRPr lang="en-US" sz="1500"/>
          </a:p>
        </p:txBody>
      </p:sp>
      <p:sp>
        <p:nvSpPr>
          <p:cNvPr id="1177383911" name="Text 26"/>
          <p:cNvSpPr/>
          <p:nvPr/>
        </p:nvSpPr>
        <p:spPr bwMode="auto">
          <a:xfrm>
            <a:off x="1554480" y="4553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make down preserves host-mounted PostgreSQL data.</a:t>
            </a:r>
            <a:endParaRPr lang="en-US" sz="1050"/>
          </a:p>
        </p:txBody>
      </p:sp>
      <p:sp>
        <p:nvSpPr>
          <p:cNvPr id="548447139" name="Shape 27"/>
          <p:cNvSpPr/>
          <p:nvPr/>
        </p:nvSpPr>
        <p:spPr bwMode="auto">
          <a:xfrm>
            <a:off x="6309360" y="40690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376376022" name="Shape 28"/>
          <p:cNvSpPr/>
          <p:nvPr/>
        </p:nvSpPr>
        <p:spPr bwMode="auto">
          <a:xfrm>
            <a:off x="6473952" y="4270248"/>
            <a:ext cx="548640" cy="548640"/>
          </a:xfrm>
          <a:prstGeom prst="ellipse">
            <a:avLst/>
          </a:prstGeom>
          <a:solidFill>
            <a:srgbClr val="C64B4B"/>
          </a:solidFill>
          <a:ln w="12700">
            <a:solidFill>
              <a:srgbClr val="C64B4B"/>
            </a:solidFill>
            <a:prstDash val="solid"/>
          </a:ln>
        </p:spPr>
      </p:sp>
      <p:sp>
        <p:nvSpPr>
          <p:cNvPr id="469903835" name="Text 29"/>
          <p:cNvSpPr/>
          <p:nvPr/>
        </p:nvSpPr>
        <p:spPr bwMode="auto">
          <a:xfrm>
            <a:off x="6473952" y="4352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6</a:t>
            </a:r>
            <a:endParaRPr lang="en-US" sz="1500"/>
          </a:p>
        </p:txBody>
      </p:sp>
      <p:sp>
        <p:nvSpPr>
          <p:cNvPr id="540218223" name="Text 30"/>
          <p:cNvSpPr/>
          <p:nvPr/>
        </p:nvSpPr>
        <p:spPr bwMode="auto">
          <a:xfrm>
            <a:off x="7178039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3313D"/>
                </a:solidFill>
              </a:rPr>
              <a:t>Protect access</a:t>
            </a:r>
            <a:endParaRPr lang="en-US" sz="1500"/>
          </a:p>
        </p:txBody>
      </p:sp>
      <p:sp>
        <p:nvSpPr>
          <p:cNvPr id="84136115" name="Text 31"/>
          <p:cNvSpPr/>
          <p:nvPr/>
        </p:nvSpPr>
        <p:spPr bwMode="auto">
          <a:xfrm>
            <a:off x="7178039" y="4553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D6B78"/>
                </a:solidFill>
              </a:rPr>
              <a:t>Put Streamlit behind authentication/TLS for sensitive deployments.</a:t>
            </a:r>
            <a:endParaRPr lang="en-US" sz="1050"/>
          </a:p>
        </p:txBody>
      </p:sp>
      <p:sp>
        <p:nvSpPr>
          <p:cNvPr id="2084470145" name="Shape 32"/>
          <p:cNvSpPr/>
          <p:nvPr/>
        </p:nvSpPr>
        <p:spPr bwMode="auto">
          <a:xfrm>
            <a:off x="1417320" y="5486400"/>
            <a:ext cx="9372600" cy="658368"/>
          </a:xfrm>
          <a:prstGeom prst="roundRect">
            <a:avLst>
              <a:gd name="adj" fmla="val 6944"/>
            </a:avLst>
          </a:prstGeom>
          <a:solidFill>
            <a:srgbClr val="FCE8D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928910696" name="Text 33"/>
          <p:cNvSpPr/>
          <p:nvPr/>
        </p:nvSpPr>
        <p:spPr bwMode="auto">
          <a:xfrm>
            <a:off x="1600200" y="5623560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3313D"/>
                </a:solidFill>
              </a:rPr>
              <a:t>Important</a:t>
            </a:r>
            <a:endParaRPr lang="en-US" sz="1250"/>
          </a:p>
        </p:txBody>
      </p:sp>
      <p:sp>
        <p:nvSpPr>
          <p:cNvPr id="2037392446" name="Text 34"/>
          <p:cNvSpPr/>
          <p:nvPr/>
        </p:nvSpPr>
        <p:spPr bwMode="auto">
          <a:xfrm>
            <a:off x="1600200" y="5897880"/>
            <a:ext cx="9006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23313D"/>
                </a:solidFill>
              </a:rPr>
              <a:t>A backup is not proven until it has been restored and checked. Keep independent copies outside the primary host.</a:t>
            </a:r>
            <a:endParaRPr lang="en-US" sz="1050"/>
          </a:p>
        </p:txBody>
      </p:sp>
      <p:sp>
        <p:nvSpPr>
          <p:cNvPr id="52517143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22608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D6B78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IlluQC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IlluQC</dc:title>
  <dc:subject>Basic steps required to work with IlluQC</dc:subject>
  <dc:creator>IlluQC project</dc:creator>
  <cp:lastModifiedBy/>
  <cp:revision>2</cp:revision>
  <dcterms:created xsi:type="dcterms:W3CDTF">2026-07-23T18:04:07Z</dcterms:created>
  <dcterms:modified xsi:type="dcterms:W3CDTF">2026-07-23T18:15:07Z</dcterms:modified>
</cp:coreProperties>
</file>